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lays the whole day's foundation: everything Module 10B provisions this afternoon (storage, identity) attaches to the EC2 instance built here, so today opens by grounding why cloud infrastructure exists at all before a single AWS service is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question to the room before moving on: "if you had to guess your application's peak load for the next three years, right now, before writing a line of code, how confident would you be?" Per the source content, traditional infrastructure asks a team to commit to hardware before it knows what it needs, real procurement and setup delays a project, and surviving an unpredictable spike means over-provisioning and leaving capacity idle most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inverts the problem on the previous slide: per the source content, "cloud computing inverts this: instead of guessing capacity months in advance, a team accesses compute, storage, and networking on an as-needed basis, with pay-as-you-go pricing." That trade, stop buying infrastructure and start renting it precisely as needed, is what today's EC2, S3, and IAM work all sit on top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question to the room before advancing: "if AWS now runs the physical hardware, who's responsible for keeping any of this secure?" Per the source content, this is exactly the practical question the Shared Responsibility Model exists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AWS's own model: AWS is responsible for protecting the infrastructure that runs every AWS service ("security of the cloud"); customer duties vary by service, for EC2 that's the guest OS, patches, and security group, for S3 it narrows to data, encryption, and IAM access. Use this to preempt a question that resurfaces in Module 10B: default-deny and Block Public Access aren't arbitrary AWS defaults, they're literally the customer's stated half of this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map, not a syllabus. Today's course goes deep on three of these, EC2 (Compute), S3 (Storage), and IAM (Security &amp; Identity), and introduces a fourth, Amazon VPC (Networking), as a foundational concept, because those are what the capstone application actually needs to run on, VPC included: every instance launched today runs inside one. The other service names on the slide (Lambda, RDS, DynamoDB, Route 53, CloudFront, Bedrock, SageMaker) are shown for orientation only, don't call out that they're excluded, if a participant asks, acknowledge the category and say it's out of scope for this course, not "we'll get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widens the lens for a moment before narrowing back in: it's the same category emphasis as the previous slide (Compute/EC2, Networking/VPC, Storage/S3, Security-Identity/IAM), just set against a fuller, more realistic picture of AWS's product catalog, Analytics, Databases, Management &amp; Governance, and ML/AI are all real, commonly used categories a participant will run into on the job. Keep this brief, under 5 minutes, it's orientation, not a new topic: the goal is that a name like Kinesis or CloudTrail registers as 'a category I recognize' the first time it comes up in a real project, not a full explanation of what each one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practical consequence before the definitions: the team must agree on one AWS Region right now, because Module 10B's S3 bucket and the cross-cloud RBAC work later in the course all assume one consistent AWS footprint for the capstone. The Region chosen today is a real, sticky decision, it cannot be changed later for resources like an S3 bucket without literally recreating the resource in a different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straight from today's lab: under "Application and OS Images (Amazon Machine Image)," choose a free-tier eligible AMI (Amazon Linux or Ubuntu Server); under "Key pair (login)," create or choose a key pair rather than proceeding without one, since skipping it blocks direct terminal access later. Instance name field example: [Placeholder — replace with your team's actual capstone/application name]-web-01.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question to the room before advancing: "if your instance needs a network to exist on at all, what decides which network that is?" Per the source content, this is exactly the problem Amazon VPC exists to solve — a team fully controls this network rather than it being wide open or unmanaged.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today's lab: in Phase 1's Network settings step, choose Edit and point out the default VPC and subnet the instance is about to launch into before accepting the defaults, this is the same default VPC named here, not a new networking decision the team has to make today. Keep this concept-only: the course uses the account's default VPC throughout, designing a custom VPC is out of scope for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today's lab: confirm the exact port from the team's own architecture diagram (for example 3000, 5000, or 8080), then Edit inbound rules -&gt; Add rule, Type = Custom TCP, Port range = that port, Source = the team's own IP or a trainer-agreed range, never 0.0.0.0/0. Flag this explicitly as a common pitfall: opening to the whole internet "to make it work faster" should be corrected immediately, not left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today's lab: build the launch template from the instance just launched in the previous exercise, select at least two subnets in different Availability Zones, then set Desired capacity to 1 and Min/Max to 1 and 2, with no scaling policy yet, that's a later, out-of-scope topic. Common pitfall to call out live: picking subnets that are all in the same AZ silently defeats the resilience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10B completes what Module 10A started: the EC2 instance built this morning gets its storage and a least-privilege identity this afternoon, together forming the capstone's complete AWS foundation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today's lab: bucket name pattern [Placeholder — replace with your team's actual capstone name]-artifacts, created in the same Region as the Module 10A EC2 instance. Reinforce AWS's own guidance: keep all four Block Public Access settings enabled unless the use case genuinely requires a public bucket, which the capstone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straight from today's lab: Management tab -&gt; Create lifecycle rule -&gt; apply to all objects (or scope to a prefix like logs/) -&gt; Transition to S3 Standard-IA after 30 days -&gt; Expire after 180 days. Realistic framing: for a capstone application that generates logs or generated-report artifacts, a realistic first policy is "move anything under logs/ to S3 Standard-IA after 30 days, and delete it after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today's lab: Roles -&gt; Create role -&gt; Trusted entity type = AWS service -&gt; Service or use case = EC2 -&gt; attach an AWS managed policy for S3 access as a starting point -&gt; name it [Placeholder — replace with your team's actual capstone name]-ec2-s3-role. Call out explicitly, per AWS's own best-practice guidance, that this managed policy is a starting point, not the finished state, the team should narrow it to name only their bucket's ARN before the capstone goes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today's lab: select the Module 10A instance -&gt; Actions -&gt; Security -&gt; Modify IAM role -&gt; choose the role just created -&gt; Update IAM role. Close the day by naming what "provisioned" now means concretely: compute (Module 10A), storage, and a least-privilege identity, together, is the capstone's AWS foundation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Text 1"/>
          <p:cNvSpPr txBox="1"/>
          <p:nvPr/>
        </p:nvSpPr>
        <p:spPr>
          <a:xfrm>
            <a:off x="731520" y="2514600"/>
            <a:ext cx="10725912"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AWS Cloud Foundations</a:t>
            </a:r>
            <a:endParaRPr lang="en-US" sz="4000" dirty="0"/>
          </a:p>
        </p:txBody>
      </p:sp>
      <p:sp>
        <p:nvSpPr>
          <p:cNvPr id="4" name="Text 2"/>
          <p:cNvSpPr txBox="1"/>
          <p:nvPr/>
        </p:nvSpPr>
        <p:spPr>
          <a:xfrm>
            <a:off x="731520" y="3657600"/>
            <a:ext cx="10725912" cy="457200"/>
          </a:xfrm>
          <a:prstGeom prst="rect">
            <a:avLst/>
          </a:prstGeom>
          <a:noFill/>
          <a:ln/>
        </p:spPr>
        <p:txBody>
          <a:bodyPr wrap="square" lIns="0" tIns="0" rIns="0" bIns="0" rtlCol="0" anchor="ctr"/>
          <a:lstStyle/>
          <a:p>
            <a:pPr algn="ctr" indent="0" marL="0">
              <a:buNone/>
            </a:pPr>
            <a:r>
              <a:rPr lang="en-US" sz="1400" i="1" dirty="0">
                <a:solidFill>
                  <a:srgbClr val="1C7293"/>
                </a:solidFill>
                <a:latin typeface="Calibri" pitchFamily="34" charset="0"/>
                <a:ea typeface="Calibri" pitchFamily="34" charset="-122"/>
                <a:cs typeface="Calibri" pitchFamily="34" charset="-120"/>
              </a:rPr>
              <a:t>Compute  •  Storage  •  Identity</a:t>
            </a:r>
            <a:endParaRPr lang="en-US" sz="1400" dirty="0"/>
          </a:p>
        </p:txBody>
      </p:sp>
      <p:sp>
        <p:nvSpPr>
          <p:cNvPr id="5" name="Shape 3"/>
          <p:cNvSpPr/>
          <p:nvPr/>
        </p:nvSpPr>
        <p:spPr>
          <a:xfrm>
            <a:off x="3941064" y="4251960"/>
            <a:ext cx="640080" cy="640080"/>
          </a:xfrm>
          <a:prstGeom prst="ellipse">
            <a:avLst/>
          </a:prstGeom>
          <a:solidFill>
            <a:srgbClr val="065A82"/>
          </a:solidFill>
          <a:ln w="19050">
            <a:solidFill>
              <a:srgbClr val="1C7293"/>
            </a:solidFill>
            <a:prstDash val="solid"/>
          </a:ln>
        </p:spPr>
      </p:sp>
      <p:sp>
        <p:nvSpPr>
          <p:cNvPr id="6" name="Text 4"/>
          <p:cNvSpPr txBox="1"/>
          <p:nvPr/>
        </p:nvSpPr>
        <p:spPr>
          <a:xfrm>
            <a:off x="3163824" y="4983480"/>
            <a:ext cx="2194560" cy="320040"/>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COMPUTE</a:t>
            </a:r>
            <a:endParaRPr lang="en-US" sz="1100" dirty="0"/>
          </a:p>
        </p:txBody>
      </p:sp>
      <p:sp>
        <p:nvSpPr>
          <p:cNvPr id="7" name="Shape 5"/>
          <p:cNvSpPr/>
          <p:nvPr/>
        </p:nvSpPr>
        <p:spPr>
          <a:xfrm>
            <a:off x="5774436" y="4251960"/>
            <a:ext cx="640080" cy="640080"/>
          </a:xfrm>
          <a:prstGeom prst="ellipse">
            <a:avLst/>
          </a:prstGeom>
          <a:solidFill>
            <a:srgbClr val="065A82"/>
          </a:solidFill>
          <a:ln w="19050">
            <a:solidFill>
              <a:srgbClr val="1C7293"/>
            </a:solidFill>
            <a:prstDash val="solid"/>
          </a:ln>
        </p:spPr>
      </p:sp>
      <p:sp>
        <p:nvSpPr>
          <p:cNvPr id="8" name="Text 6"/>
          <p:cNvSpPr txBox="1"/>
          <p:nvPr/>
        </p:nvSpPr>
        <p:spPr>
          <a:xfrm>
            <a:off x="4997196" y="4983480"/>
            <a:ext cx="2194560" cy="320040"/>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STORAGE</a:t>
            </a:r>
            <a:endParaRPr lang="en-US" sz="1100" dirty="0"/>
          </a:p>
        </p:txBody>
      </p:sp>
      <p:sp>
        <p:nvSpPr>
          <p:cNvPr id="9" name="Shape 7"/>
          <p:cNvSpPr/>
          <p:nvPr/>
        </p:nvSpPr>
        <p:spPr>
          <a:xfrm>
            <a:off x="7607808" y="4251960"/>
            <a:ext cx="640080" cy="640080"/>
          </a:xfrm>
          <a:prstGeom prst="ellipse">
            <a:avLst/>
          </a:prstGeom>
          <a:solidFill>
            <a:srgbClr val="065A82"/>
          </a:solidFill>
          <a:ln w="19050">
            <a:solidFill>
              <a:srgbClr val="1C7293"/>
            </a:solidFill>
            <a:prstDash val="solid"/>
          </a:ln>
        </p:spPr>
      </p:sp>
      <p:sp>
        <p:nvSpPr>
          <p:cNvPr id="10" name="Text 8"/>
          <p:cNvSpPr txBox="1"/>
          <p:nvPr/>
        </p:nvSpPr>
        <p:spPr>
          <a:xfrm>
            <a:off x="6830568" y="4983480"/>
            <a:ext cx="2194560" cy="320040"/>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IDENTITY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731520" y="1417320"/>
            <a:ext cx="10725912"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AWS Compute Essentials</a:t>
            </a:r>
            <a:endParaRPr lang="en-US" sz="3400" dirty="0"/>
          </a:p>
        </p:txBody>
      </p:sp>
      <p:sp>
        <p:nvSpPr>
          <p:cNvPr id="3" name="Shape 1"/>
          <p:cNvSpPr/>
          <p:nvPr/>
        </p:nvSpPr>
        <p:spPr>
          <a:xfrm>
            <a:off x="2651760" y="2606040"/>
            <a:ext cx="6885432" cy="3474720"/>
          </a:xfrm>
          <a:prstGeom prst="roundRect">
            <a:avLst>
              <a:gd name="adj" fmla="val 3158"/>
            </a:avLst>
          </a:prstGeom>
          <a:solidFill>
            <a:srgbClr val="1A2150"/>
          </a:solidFill>
          <a:ln w="12700">
            <a:solidFill>
              <a:srgbClr val="1C7293"/>
            </a:solidFill>
            <a:prstDash val="solid"/>
          </a:ln>
        </p:spPr>
      </p:sp>
      <p:sp>
        <p:nvSpPr>
          <p:cNvPr id="4" name="Text 2"/>
          <p:cNvSpPr txBox="1"/>
          <p:nvPr/>
        </p:nvSpPr>
        <p:spPr>
          <a:xfrm>
            <a:off x="2971800" y="2788920"/>
            <a:ext cx="6245352" cy="32004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WHAT'S AHEAD</a:t>
            </a:r>
            <a:endParaRPr lang="en-US" sz="1100" dirty="0"/>
          </a:p>
        </p:txBody>
      </p:sp>
      <p:sp>
        <p:nvSpPr>
          <p:cNvPr id="5" name="Text 3"/>
          <p:cNvSpPr txBox="1"/>
          <p:nvPr/>
        </p:nvSpPr>
        <p:spPr>
          <a:xfrm>
            <a:off x="2971800" y="3200400"/>
            <a:ext cx="6245352" cy="274320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Why the cloud, and the AWS Shared Responsibility Model</a:t>
            </a:r>
            <a:endParaRPr lang="en-US" sz="1450" dirty="0"/>
          </a:p>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AWS's service landscape — where EC2, S3, and IAM fit</a:t>
            </a:r>
            <a:endParaRPr lang="en-US" sz="1450" dirty="0"/>
          </a:p>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AWS global infrastructure: Regions &amp; Availability Zones</a:t>
            </a:r>
            <a:endParaRPr lang="en-US" sz="1450" dirty="0"/>
          </a:p>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Compute &amp; networking essentials: EC2, VPC, Security Groups</a:t>
            </a:r>
            <a:endParaRPr lang="en-US" sz="1450" dirty="0"/>
          </a:p>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Basic Auto Scaling groups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Why Not Just Buy Hardware?</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Traditional infrastructure asks a team to commit to hardware before it knows what it actually needs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Real procurement and setup takes real time — a project stalls waiting for servers to arrive and be configured</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To survive an unpredictable traffic spike, a team over-provisions for its worst day</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Most of that capacity sits idle the rest of the time; reaching a new geography means building infrastructure there too</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10314432" y="457200"/>
            <a:ext cx="1417320" cy="384048"/>
          </a:xfrm>
          <a:prstGeom prst="roundRect">
            <a:avLst>
              <a:gd name="adj" fmla="val 19048"/>
            </a:avLst>
          </a:prstGeom>
          <a:solidFill>
            <a:srgbClr val="9C2B2B"/>
          </a:solidFill>
          <a:ln/>
        </p:spPr>
      </p:sp>
      <p:sp>
        <p:nvSpPr>
          <p:cNvPr id="6" name="Text 4"/>
          <p:cNvSpPr txBox="1"/>
          <p:nvPr/>
        </p:nvSpPr>
        <p:spPr>
          <a:xfrm>
            <a:off x="10314432" y="457200"/>
            <a:ext cx="14173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PROBLEM</a:t>
            </a:r>
            <a:endParaRPr lang="en-US" sz="1100" dirty="0"/>
          </a:p>
        </p:txBody>
      </p:sp>
      <p:sp>
        <p:nvSpPr>
          <p:cNvPr id="7" name="Shape 5"/>
          <p:cNvSpPr/>
          <p:nvPr/>
        </p:nvSpPr>
        <p:spPr>
          <a:xfrm>
            <a:off x="7498080" y="1691640"/>
            <a:ext cx="3968496" cy="1554480"/>
          </a:xfrm>
          <a:prstGeom prst="roundRect">
            <a:avLst>
              <a:gd name="adj" fmla="val 5882"/>
            </a:avLst>
          </a:prstGeom>
          <a:solidFill>
            <a:srgbClr val="FFFFFF"/>
          </a:solidFill>
          <a:ln w="19050">
            <a:solidFill>
              <a:srgbClr val="5B6472"/>
            </a:solidFill>
            <a:prstDash val="solid"/>
          </a:ln>
        </p:spPr>
      </p:sp>
      <p:sp>
        <p:nvSpPr>
          <p:cNvPr id="8" name="Text 6"/>
          <p:cNvSpPr txBox="1"/>
          <p:nvPr/>
        </p:nvSpPr>
        <p:spPr>
          <a:xfrm>
            <a:off x="7498080" y="1783080"/>
            <a:ext cx="3968496" cy="274320"/>
          </a:xfrm>
          <a:prstGeom prst="rect">
            <a:avLst/>
          </a:prstGeom>
          <a:noFill/>
          <a:ln/>
        </p:spPr>
        <p:txBody>
          <a:bodyPr wrap="square" lIns="0" tIns="0" rIns="0" bIns="0"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TRADITIONAL IT</a:t>
            </a:r>
            <a:endParaRPr lang="en-US" sz="1100" dirty="0"/>
          </a:p>
        </p:txBody>
      </p:sp>
      <p:sp>
        <p:nvSpPr>
          <p:cNvPr id="9" name="Text 7"/>
          <p:cNvSpPr txBox="1"/>
          <p:nvPr/>
        </p:nvSpPr>
        <p:spPr>
          <a:xfrm>
            <a:off x="7680960" y="2148840"/>
            <a:ext cx="3602736" cy="960120"/>
          </a:xfrm>
          <a:prstGeom prst="rect">
            <a:avLst/>
          </a:prstGeom>
          <a:noFill/>
          <a:ln/>
        </p:spPr>
        <p:txBody>
          <a:bodyPr wrap="square" lIns="0" tIns="0" rIns="0" bIns="0"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Buy hardware  →  wait weeks/months  →  hope you sized it right</a:t>
            </a:r>
            <a:endParaRPr lang="en-US" sz="1150" dirty="0"/>
          </a:p>
        </p:txBody>
      </p:sp>
      <p:sp>
        <p:nvSpPr>
          <p:cNvPr id="10" name="Shape 8"/>
          <p:cNvSpPr/>
          <p:nvPr/>
        </p:nvSpPr>
        <p:spPr>
          <a:xfrm>
            <a:off x="7498080" y="3429000"/>
            <a:ext cx="3968496" cy="1554480"/>
          </a:xfrm>
          <a:prstGeom prst="roundRect">
            <a:avLst>
              <a:gd name="adj" fmla="val 5882"/>
            </a:avLst>
          </a:prstGeom>
          <a:ln w="19050">
            <a:solidFill>
              <a:srgbClr val="9C2B2B"/>
            </a:solidFill>
            <a:prstDash val="dash"/>
          </a:ln>
        </p:spPr>
      </p:sp>
      <p:sp>
        <p:nvSpPr>
          <p:cNvPr id="11" name="Text 9"/>
          <p:cNvSpPr txBox="1"/>
          <p:nvPr/>
        </p:nvSpPr>
        <p:spPr>
          <a:xfrm>
            <a:off x="7498080" y="3520440"/>
            <a:ext cx="3968496" cy="274320"/>
          </a:xfrm>
          <a:prstGeom prst="rect">
            <a:avLst/>
          </a:prstGeom>
          <a:noFill/>
          <a:ln/>
        </p:spPr>
        <p:txBody>
          <a:bodyPr wrap="square" lIns="0" tIns="0" rIns="0" bIns="0" rtlCol="0" anchor="ctr"/>
          <a:lstStyle/>
          <a:p>
            <a:pPr algn="ctr" indent="0" marL="0">
              <a:buNone/>
            </a:pPr>
            <a:r>
              <a:rPr lang="en-US" sz="1100" b="1" dirty="0">
                <a:solidFill>
                  <a:srgbClr val="9C2B2B"/>
                </a:solidFill>
                <a:latin typeface="Calibri" pitchFamily="34" charset="0"/>
                <a:ea typeface="Calibri" pitchFamily="34" charset="-122"/>
                <a:cs typeface="Calibri" pitchFamily="34" charset="-120"/>
              </a:rPr>
              <a:t>MOSTLY IDLE CAPACITY</a:t>
            </a:r>
            <a:endParaRPr lang="en-US" sz="1100" dirty="0"/>
          </a:p>
        </p:txBody>
      </p:sp>
      <p:sp>
        <p:nvSpPr>
          <p:cNvPr id="12" name="Text 10"/>
          <p:cNvSpPr txBox="1"/>
          <p:nvPr/>
        </p:nvSpPr>
        <p:spPr>
          <a:xfrm>
            <a:off x="7680960" y="3886200"/>
            <a:ext cx="3602736" cy="960120"/>
          </a:xfrm>
          <a:prstGeom prst="rect">
            <a:avLst/>
          </a:prstGeom>
          <a:noFill/>
          <a:ln/>
        </p:spPr>
        <p:txBody>
          <a:bodyPr wrap="square" lIns="0" tIns="0" rIns="0" bIns="0" rtlCol="0" anchor="ctr"/>
          <a:lstStyle/>
          <a:p>
            <a:pPr algn="ctr" indent="0" marL="0">
              <a:buNone/>
            </a:pPr>
            <a:r>
              <a:rPr lang="en-US" sz="1150" dirty="0">
                <a:solidFill>
                  <a:srgbClr val="9C2B2B"/>
                </a:solidFill>
                <a:latin typeface="Calibri" pitchFamily="34" charset="0"/>
                <a:ea typeface="Calibri" pitchFamily="34" charset="-122"/>
                <a:cs typeface="Calibri" pitchFamily="34" charset="-120"/>
              </a:rPr>
              <a:t>Sized for the one day a year you needed it — idle every other day</a:t>
            </a:r>
            <a:endParaRPr lang="en-US" sz="1150" dirty="0"/>
          </a:p>
        </p:txBody>
      </p:sp>
      <p:sp>
        <p:nvSpPr>
          <p:cNvPr id="13" name="Text 11"/>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A data center rack, a slow procurement clock, and mostly-idle capacity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Pay-as-You-Go Cloud Infrastructure</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Cloud model: pay-as-you-go, access compute, storage, and networking on an as-needed basis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Provision in minutes instead of months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Scale up or down instantly as real demand changes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Reach global users without ever building a physical data center</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10314432" y="457200"/>
            <a:ext cx="1417320" cy="384048"/>
          </a:xfrm>
          <a:prstGeom prst="roundRect">
            <a:avLst>
              <a:gd name="adj" fmla="val 19048"/>
            </a:avLst>
          </a:prstGeom>
          <a:solidFill>
            <a:srgbClr val="065A82"/>
          </a:solidFill>
          <a:ln/>
        </p:spPr>
      </p:sp>
      <p:sp>
        <p:nvSpPr>
          <p:cNvPr id="6" name="Text 4"/>
          <p:cNvSpPr txBox="1"/>
          <p:nvPr/>
        </p:nvSpPr>
        <p:spPr>
          <a:xfrm>
            <a:off x="10314432" y="457200"/>
            <a:ext cx="14173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SOLUTION</a:t>
            </a:r>
            <a:endParaRPr lang="en-US" sz="1100" dirty="0"/>
          </a:p>
        </p:txBody>
      </p:sp>
      <p:sp>
        <p:nvSpPr>
          <p:cNvPr id="7" name="Shape 5"/>
          <p:cNvSpPr/>
          <p:nvPr/>
        </p:nvSpPr>
        <p:spPr>
          <a:xfrm>
            <a:off x="7498080" y="1691640"/>
            <a:ext cx="3968496" cy="1554480"/>
          </a:xfrm>
          <a:prstGeom prst="roundRect">
            <a:avLst>
              <a:gd name="adj" fmla="val 5882"/>
            </a:avLst>
          </a:prstGeom>
          <a:solidFill>
            <a:srgbClr val="065A82"/>
          </a:solidFill>
          <a:ln/>
        </p:spPr>
      </p:sp>
      <p:sp>
        <p:nvSpPr>
          <p:cNvPr id="8" name="Text 6"/>
          <p:cNvSpPr txBox="1"/>
          <p:nvPr/>
        </p:nvSpPr>
        <p:spPr>
          <a:xfrm>
            <a:off x="7498080" y="1783080"/>
            <a:ext cx="3968496" cy="274320"/>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CLOUD</a:t>
            </a:r>
            <a:endParaRPr lang="en-US" sz="1100" dirty="0"/>
          </a:p>
        </p:txBody>
      </p:sp>
      <p:sp>
        <p:nvSpPr>
          <p:cNvPr id="9" name="Text 7"/>
          <p:cNvSpPr txBox="1"/>
          <p:nvPr/>
        </p:nvSpPr>
        <p:spPr>
          <a:xfrm>
            <a:off x="7680960" y="2148840"/>
            <a:ext cx="3602736" cy="9601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Provision in minutes  →  pay for what you use  →  scale instantly</a:t>
            </a:r>
            <a:endParaRPr lang="en-US" sz="1150" dirty="0"/>
          </a:p>
        </p:txBody>
      </p:sp>
      <p:sp>
        <p:nvSpPr>
          <p:cNvPr id="10" name="Shape 8"/>
          <p:cNvSpPr/>
          <p:nvPr/>
        </p:nvSpPr>
        <p:spPr>
          <a:xfrm>
            <a:off x="7498080" y="3429000"/>
            <a:ext cx="3968496" cy="1554480"/>
          </a:xfrm>
          <a:prstGeom prst="roundRect">
            <a:avLst>
              <a:gd name="adj" fmla="val 5882"/>
            </a:avLst>
          </a:prstGeom>
          <a:solidFill>
            <a:srgbClr val="1C7293"/>
          </a:solidFill>
          <a:ln/>
        </p:spPr>
      </p:sp>
      <p:sp>
        <p:nvSpPr>
          <p:cNvPr id="11" name="Text 9"/>
          <p:cNvSpPr txBox="1"/>
          <p:nvPr/>
        </p:nvSpPr>
        <p:spPr>
          <a:xfrm>
            <a:off x="7498080" y="3520440"/>
            <a:ext cx="3968496" cy="274320"/>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GLOBAL REACH</a:t>
            </a:r>
            <a:endParaRPr lang="en-US" sz="1100" dirty="0"/>
          </a:p>
        </p:txBody>
      </p:sp>
      <p:sp>
        <p:nvSpPr>
          <p:cNvPr id="12" name="Text 10"/>
          <p:cNvSpPr txBox="1"/>
          <p:nvPr/>
        </p:nvSpPr>
        <p:spPr>
          <a:xfrm>
            <a:off x="7680960" y="3886200"/>
            <a:ext cx="3602736" cy="9601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Reach users worldwide without building a single data center</a:t>
            </a:r>
            <a:endParaRPr lang="en-US" sz="1150" dirty="0"/>
          </a:p>
        </p:txBody>
      </p:sp>
      <p:sp>
        <p:nvSpPr>
          <p:cNvPr id="13" name="Text 11"/>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A dial that scales instantly, and reach without new data centers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Who's Responsible for Security Now?</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Moving infrastructure to AWS means AWS now runs the physical hardware, not your team</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Security doesn't just disappear as a concern because someone else owns the servers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 team needs to know exactly what it's still on the hook for, and what it isn't</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Without a clear line, a real gap (an open port, a public bucket) gets missed until it's exploited</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10314432" y="457200"/>
            <a:ext cx="1417320" cy="384048"/>
          </a:xfrm>
          <a:prstGeom prst="roundRect">
            <a:avLst>
              <a:gd name="adj" fmla="val 19048"/>
            </a:avLst>
          </a:prstGeom>
          <a:solidFill>
            <a:srgbClr val="9C2B2B"/>
          </a:solidFill>
          <a:ln/>
        </p:spPr>
      </p:sp>
      <p:sp>
        <p:nvSpPr>
          <p:cNvPr id="6" name="Text 4"/>
          <p:cNvSpPr txBox="1"/>
          <p:nvPr/>
        </p:nvSpPr>
        <p:spPr>
          <a:xfrm>
            <a:off x="10314432" y="457200"/>
            <a:ext cx="14173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PROBLEM</a:t>
            </a:r>
            <a:endParaRPr lang="en-US" sz="1100" dirty="0"/>
          </a:p>
        </p:txBody>
      </p:sp>
      <p:sp>
        <p:nvSpPr>
          <p:cNvPr id="7" name="Shape 5"/>
          <p:cNvSpPr/>
          <p:nvPr/>
        </p:nvSpPr>
        <p:spPr>
          <a:xfrm>
            <a:off x="7772400" y="2103120"/>
            <a:ext cx="3419856" cy="2560320"/>
          </a:xfrm>
          <a:prstGeom prst="roundRect">
            <a:avLst>
              <a:gd name="adj" fmla="val 3571"/>
            </a:avLst>
          </a:prstGeom>
          <a:ln w="19050">
            <a:solidFill>
              <a:srgbClr val="9C2B2B"/>
            </a:solidFill>
            <a:prstDash val="dash"/>
          </a:ln>
        </p:spPr>
      </p:sp>
      <p:sp>
        <p:nvSpPr>
          <p:cNvPr id="8" name="Text 6"/>
          <p:cNvSpPr txBox="1"/>
          <p:nvPr/>
        </p:nvSpPr>
        <p:spPr>
          <a:xfrm>
            <a:off x="7772400" y="2286000"/>
            <a:ext cx="3419856" cy="1188720"/>
          </a:xfrm>
          <a:prstGeom prst="rect">
            <a:avLst/>
          </a:prstGeom>
          <a:noFill/>
          <a:ln/>
        </p:spPr>
        <p:txBody>
          <a:bodyPr wrap="square" lIns="0" tIns="0" rIns="0" bIns="0" rtlCol="0" anchor="ctr"/>
          <a:lstStyle/>
          <a:p>
            <a:pPr algn="ctr" indent="0" marL="0">
              <a:buNone/>
            </a:pPr>
            <a:r>
              <a:rPr lang="en-US" sz="6000" b="1" dirty="0">
                <a:solidFill>
                  <a:srgbClr val="9C2B2B"/>
                </a:solidFill>
                <a:latin typeface="Cambria" pitchFamily="34" charset="0"/>
                <a:ea typeface="Cambria" pitchFamily="34" charset="-122"/>
                <a:cs typeface="Cambria" pitchFamily="34" charset="-120"/>
              </a:rPr>
              <a:t>?</a:t>
            </a:r>
            <a:endParaRPr lang="en-US" sz="6000" dirty="0"/>
          </a:p>
        </p:txBody>
      </p:sp>
      <p:sp>
        <p:nvSpPr>
          <p:cNvPr id="9" name="Text 7"/>
          <p:cNvSpPr txBox="1"/>
          <p:nvPr/>
        </p:nvSpPr>
        <p:spPr>
          <a:xfrm>
            <a:off x="7772400" y="3566160"/>
            <a:ext cx="3419856" cy="914400"/>
          </a:xfrm>
          <a:prstGeom prst="rect">
            <a:avLst/>
          </a:prstGeom>
          <a:noFill/>
          <a:ln/>
        </p:spPr>
        <p:txBody>
          <a:bodyPr wrap="square" lIns="0" tIns="0" rIns="0" bIns="0" rtlCol="0" anchor="ctr"/>
          <a:lstStyle/>
          <a:p>
            <a:pPr algn="ctr" indent="0" marL="0">
              <a:buNone/>
            </a:pPr>
            <a:r>
              <a:rPr lang="en-US" sz="1300" b="1" dirty="0">
                <a:solidFill>
                  <a:srgbClr val="9C2B2B"/>
                </a:solidFill>
                <a:latin typeface="Calibri" pitchFamily="34" charset="0"/>
                <a:ea typeface="Calibri" pitchFamily="34" charset="-122"/>
                <a:cs typeface="Calibri" pitchFamily="34" charset="-120"/>
              </a:rPr>
              <a:t>Who owns this?</a:t>
            </a:r>
            <a:endParaRPr lang="en-US" sz="1300" dirty="0"/>
          </a:p>
        </p:txBody>
      </p:sp>
      <p:sp>
        <p:nvSpPr>
          <p:cNvPr id="10" name="Text 8"/>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A question mark over AWS's infrastructure — who secures what?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AWS Shared Responsibility Model</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AWS secures the cloud: physical facilities, hardware, networking, hypervisor, host OS, Regions/AZs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Customer secures what's in the cloud: guest OS &amp; patches, security group rules, data &amp; encryption, IAM</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The split shifts by service — EC2 leaves more to the customer than a managed service like S3</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Today's defaults (security groups deny inbound, S3 blocks public access) are the customer's half of this line</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10314432" y="457200"/>
            <a:ext cx="1417320" cy="384048"/>
          </a:xfrm>
          <a:prstGeom prst="roundRect">
            <a:avLst>
              <a:gd name="adj" fmla="val 19048"/>
            </a:avLst>
          </a:prstGeom>
          <a:solidFill>
            <a:srgbClr val="065A82"/>
          </a:solidFill>
          <a:ln/>
        </p:spPr>
      </p:sp>
      <p:sp>
        <p:nvSpPr>
          <p:cNvPr id="6" name="Text 4"/>
          <p:cNvSpPr txBox="1"/>
          <p:nvPr/>
        </p:nvSpPr>
        <p:spPr>
          <a:xfrm>
            <a:off x="10314432" y="457200"/>
            <a:ext cx="14173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SOLUTION</a:t>
            </a:r>
            <a:endParaRPr lang="en-US" sz="1100" dirty="0"/>
          </a:p>
        </p:txBody>
      </p:sp>
      <p:sp>
        <p:nvSpPr>
          <p:cNvPr id="7" name="Shape 5"/>
          <p:cNvSpPr/>
          <p:nvPr/>
        </p:nvSpPr>
        <p:spPr>
          <a:xfrm>
            <a:off x="7498080" y="1691640"/>
            <a:ext cx="3968496" cy="1508760"/>
          </a:xfrm>
          <a:prstGeom prst="roundRect">
            <a:avLst>
              <a:gd name="adj" fmla="val 6061"/>
            </a:avLst>
          </a:prstGeom>
          <a:solidFill>
            <a:srgbClr val="1C7293"/>
          </a:solidFill>
          <a:ln/>
        </p:spPr>
      </p:sp>
      <p:sp>
        <p:nvSpPr>
          <p:cNvPr id="8" name="Text 6"/>
          <p:cNvSpPr txBox="1"/>
          <p:nvPr/>
        </p:nvSpPr>
        <p:spPr>
          <a:xfrm>
            <a:off x="7498080" y="1691640"/>
            <a:ext cx="3968496" cy="1508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AWS
</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Security OF the Cloud</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hardware · hypervisor · regions</a:t>
            </a:r>
            <a:endParaRPr lang="en-US" sz="1300" dirty="0"/>
          </a:p>
        </p:txBody>
      </p:sp>
      <p:sp>
        <p:nvSpPr>
          <p:cNvPr id="9" name="Shape 7"/>
          <p:cNvSpPr/>
          <p:nvPr/>
        </p:nvSpPr>
        <p:spPr>
          <a:xfrm>
            <a:off x="7498080" y="3337560"/>
            <a:ext cx="3968496" cy="1508760"/>
          </a:xfrm>
          <a:prstGeom prst="roundRect">
            <a:avLst>
              <a:gd name="adj" fmla="val 6061"/>
            </a:avLst>
          </a:prstGeom>
          <a:solidFill>
            <a:srgbClr val="065A82"/>
          </a:solidFill>
          <a:ln/>
        </p:spPr>
      </p:sp>
      <p:sp>
        <p:nvSpPr>
          <p:cNvPr id="10" name="Text 8"/>
          <p:cNvSpPr txBox="1"/>
          <p:nvPr/>
        </p:nvSpPr>
        <p:spPr>
          <a:xfrm>
            <a:off x="7498080" y="3337560"/>
            <a:ext cx="3968496" cy="1508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CUSTOMER
</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Security IN the Cloud</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guest OS · security groups · data · IAM</a:t>
            </a:r>
            <a:endParaRPr lang="en-US" sz="1300" dirty="0"/>
          </a:p>
        </p:txBody>
      </p:sp>
      <p:sp>
        <p:nvSpPr>
          <p:cNvPr id="11" name="Text 9"/>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AWS's half vs. the customer's half of the security line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AWS at a Glance</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AWS groups services into categories: Compute, Storage, Databases, Networking &amp; Content Delivery, Machine Learning/AI</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Security &amp; Identity (where IAM lives) cuts across every category</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Today's foundation: EC2 (Compute), VPC (Networking), S3 (Storage), IAM (Security &amp; Identity)</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8247888" y="1600200"/>
            <a:ext cx="2468880" cy="676656"/>
          </a:xfrm>
          <a:prstGeom prst="roundRect">
            <a:avLst>
              <a:gd name="adj" fmla="val 10811"/>
            </a:avLst>
          </a:prstGeom>
          <a:solidFill>
            <a:srgbClr val="065A82"/>
          </a:solidFill>
          <a:ln w="12700">
            <a:solidFill>
              <a:srgbClr val="065A82"/>
            </a:solidFill>
            <a:prstDash val="solid"/>
          </a:ln>
        </p:spPr>
      </p:sp>
      <p:sp>
        <p:nvSpPr>
          <p:cNvPr id="6" name="Text 4"/>
          <p:cNvSpPr txBox="1"/>
          <p:nvPr/>
        </p:nvSpPr>
        <p:spPr>
          <a:xfrm>
            <a:off x="8247888" y="1600200"/>
            <a:ext cx="2468880" cy="67665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Compute</a:t>
            </a:r>
            <a:endParaRPr lang="en-US" sz="1350" dirty="0"/>
          </a:p>
          <a:p>
            <a:pPr algn="ctr" indent="0" marL="0">
              <a:buNone/>
            </a:pPr>
            <a:r>
              <a:rPr lang="en-US" sz="1000" i="1" dirty="0">
                <a:solidFill>
                  <a:srgbClr val="FFFFFF"/>
                </a:solidFill>
                <a:latin typeface="Calibri" pitchFamily="34" charset="0"/>
                <a:ea typeface="Calibri" pitchFamily="34" charset="-122"/>
                <a:cs typeface="Calibri" pitchFamily="34" charset="-120"/>
              </a:rPr>
              <a:t>EC2  •  Lambda</a:t>
            </a:r>
            <a:endParaRPr lang="en-US" sz="1350" dirty="0"/>
          </a:p>
        </p:txBody>
      </p:sp>
      <p:sp>
        <p:nvSpPr>
          <p:cNvPr id="7" name="Shape 5"/>
          <p:cNvSpPr/>
          <p:nvPr/>
        </p:nvSpPr>
        <p:spPr>
          <a:xfrm>
            <a:off x="8247888" y="2404872"/>
            <a:ext cx="2468880" cy="676656"/>
          </a:xfrm>
          <a:prstGeom prst="roundRect">
            <a:avLst>
              <a:gd name="adj" fmla="val 10811"/>
            </a:avLst>
          </a:prstGeom>
          <a:solidFill>
            <a:srgbClr val="065A82"/>
          </a:solidFill>
          <a:ln w="12700">
            <a:solidFill>
              <a:srgbClr val="065A82"/>
            </a:solidFill>
            <a:prstDash val="solid"/>
          </a:ln>
        </p:spPr>
      </p:sp>
      <p:sp>
        <p:nvSpPr>
          <p:cNvPr id="8" name="Text 6"/>
          <p:cNvSpPr txBox="1"/>
          <p:nvPr/>
        </p:nvSpPr>
        <p:spPr>
          <a:xfrm>
            <a:off x="8247888" y="2404872"/>
            <a:ext cx="2468880" cy="67665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Storage</a:t>
            </a:r>
            <a:endParaRPr lang="en-US" sz="1350" dirty="0"/>
          </a:p>
          <a:p>
            <a:pPr algn="ctr" indent="0" marL="0">
              <a:buNone/>
            </a:pPr>
            <a:r>
              <a:rPr lang="en-US" sz="1000" i="1" dirty="0">
                <a:solidFill>
                  <a:srgbClr val="FFFFFF"/>
                </a:solidFill>
                <a:latin typeface="Calibri" pitchFamily="34" charset="0"/>
                <a:ea typeface="Calibri" pitchFamily="34" charset="-122"/>
                <a:cs typeface="Calibri" pitchFamily="34" charset="-120"/>
              </a:rPr>
              <a:t>S3  •  EBS</a:t>
            </a:r>
            <a:endParaRPr lang="en-US" sz="1350" dirty="0"/>
          </a:p>
        </p:txBody>
      </p:sp>
      <p:sp>
        <p:nvSpPr>
          <p:cNvPr id="9" name="Shape 7"/>
          <p:cNvSpPr/>
          <p:nvPr/>
        </p:nvSpPr>
        <p:spPr>
          <a:xfrm>
            <a:off x="8247888" y="3209544"/>
            <a:ext cx="2468880" cy="676656"/>
          </a:xfrm>
          <a:prstGeom prst="roundRect">
            <a:avLst>
              <a:gd name="adj" fmla="val 10811"/>
            </a:avLst>
          </a:prstGeom>
          <a:solidFill>
            <a:srgbClr val="FFFFFF"/>
          </a:solidFill>
          <a:ln w="12700">
            <a:solidFill>
              <a:srgbClr val="5B6472"/>
            </a:solidFill>
            <a:prstDash val="solid"/>
          </a:ln>
        </p:spPr>
      </p:sp>
      <p:sp>
        <p:nvSpPr>
          <p:cNvPr id="10" name="Text 8"/>
          <p:cNvSpPr txBox="1"/>
          <p:nvPr/>
        </p:nvSpPr>
        <p:spPr>
          <a:xfrm>
            <a:off x="8247888" y="3209544"/>
            <a:ext cx="2468880" cy="676656"/>
          </a:xfrm>
          <a:prstGeom prst="rect">
            <a:avLst/>
          </a:prstGeom>
          <a:noFill/>
          <a:ln/>
        </p:spPr>
        <p:txBody>
          <a:bodyPr wrap="square" lIns="0" tIns="0" rIns="0" bIns="0" rtlCol="0" anchor="ctr"/>
          <a:lstStyle/>
          <a:p>
            <a:pPr algn="ctr" indent="0" marL="0">
              <a:buNone/>
            </a:pPr>
            <a:r>
              <a:rPr lang="en-US" sz="1350" b="1" dirty="0">
                <a:solidFill>
                  <a:srgbClr val="5B6472"/>
                </a:solidFill>
                <a:latin typeface="Calibri" pitchFamily="34" charset="0"/>
                <a:ea typeface="Calibri" pitchFamily="34" charset="-122"/>
                <a:cs typeface="Calibri" pitchFamily="34" charset="-120"/>
              </a:rPr>
              <a:t>Databases</a:t>
            </a:r>
            <a:endParaRPr lang="en-US" sz="1350" dirty="0"/>
          </a:p>
          <a:p>
            <a:pPr algn="ctr" indent="0" marL="0">
              <a:buNone/>
            </a:pPr>
            <a:r>
              <a:rPr lang="en-US" sz="1000" i="1" dirty="0">
                <a:solidFill>
                  <a:srgbClr val="5B6472"/>
                </a:solidFill>
                <a:latin typeface="Calibri" pitchFamily="34" charset="0"/>
                <a:ea typeface="Calibri" pitchFamily="34" charset="-122"/>
                <a:cs typeface="Calibri" pitchFamily="34" charset="-120"/>
              </a:rPr>
              <a:t>RDS  •  DynamoDB</a:t>
            </a:r>
            <a:endParaRPr lang="en-US" sz="1350" dirty="0"/>
          </a:p>
        </p:txBody>
      </p:sp>
      <p:sp>
        <p:nvSpPr>
          <p:cNvPr id="11" name="Shape 9"/>
          <p:cNvSpPr/>
          <p:nvPr/>
        </p:nvSpPr>
        <p:spPr>
          <a:xfrm>
            <a:off x="8247888" y="4014216"/>
            <a:ext cx="2468880" cy="676656"/>
          </a:xfrm>
          <a:prstGeom prst="roundRect">
            <a:avLst>
              <a:gd name="adj" fmla="val 10811"/>
            </a:avLst>
          </a:prstGeom>
          <a:solidFill>
            <a:srgbClr val="065A82"/>
          </a:solidFill>
          <a:ln w="12700">
            <a:solidFill>
              <a:srgbClr val="065A82"/>
            </a:solidFill>
            <a:prstDash val="solid"/>
          </a:ln>
        </p:spPr>
      </p:sp>
      <p:sp>
        <p:nvSpPr>
          <p:cNvPr id="12" name="Text 10"/>
          <p:cNvSpPr txBox="1"/>
          <p:nvPr/>
        </p:nvSpPr>
        <p:spPr>
          <a:xfrm>
            <a:off x="8247888" y="4014216"/>
            <a:ext cx="2468880" cy="67665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Networking</a:t>
            </a:r>
            <a:endParaRPr lang="en-US" sz="1350" dirty="0"/>
          </a:p>
          <a:p>
            <a:pPr algn="ctr" indent="0" marL="0">
              <a:buNone/>
            </a:pPr>
            <a:r>
              <a:rPr lang="en-US" sz="1000" i="1" dirty="0">
                <a:solidFill>
                  <a:srgbClr val="FFFFFF"/>
                </a:solidFill>
                <a:latin typeface="Calibri" pitchFamily="34" charset="0"/>
                <a:ea typeface="Calibri" pitchFamily="34" charset="-122"/>
                <a:cs typeface="Calibri" pitchFamily="34" charset="-120"/>
              </a:rPr>
              <a:t>VPC  •  Route 53  •  CloudFront</a:t>
            </a:r>
            <a:endParaRPr lang="en-US" sz="1350" dirty="0"/>
          </a:p>
        </p:txBody>
      </p:sp>
      <p:sp>
        <p:nvSpPr>
          <p:cNvPr id="13" name="Shape 11"/>
          <p:cNvSpPr/>
          <p:nvPr/>
        </p:nvSpPr>
        <p:spPr>
          <a:xfrm>
            <a:off x="8247888" y="4818888"/>
            <a:ext cx="2468880" cy="676656"/>
          </a:xfrm>
          <a:prstGeom prst="roundRect">
            <a:avLst>
              <a:gd name="adj" fmla="val 10811"/>
            </a:avLst>
          </a:prstGeom>
          <a:solidFill>
            <a:srgbClr val="FFFFFF"/>
          </a:solidFill>
          <a:ln w="12700">
            <a:solidFill>
              <a:srgbClr val="5B6472"/>
            </a:solidFill>
            <a:prstDash val="solid"/>
          </a:ln>
        </p:spPr>
      </p:sp>
      <p:sp>
        <p:nvSpPr>
          <p:cNvPr id="14" name="Text 12"/>
          <p:cNvSpPr txBox="1"/>
          <p:nvPr/>
        </p:nvSpPr>
        <p:spPr>
          <a:xfrm>
            <a:off x="8247888" y="4818888"/>
            <a:ext cx="2468880" cy="676656"/>
          </a:xfrm>
          <a:prstGeom prst="rect">
            <a:avLst/>
          </a:prstGeom>
          <a:noFill/>
          <a:ln/>
        </p:spPr>
        <p:txBody>
          <a:bodyPr wrap="square" lIns="0" tIns="0" rIns="0" bIns="0" rtlCol="0" anchor="ctr"/>
          <a:lstStyle/>
          <a:p>
            <a:pPr algn="ctr" indent="0" marL="0">
              <a:buNone/>
            </a:pPr>
            <a:r>
              <a:rPr lang="en-US" sz="1350" b="1" dirty="0">
                <a:solidFill>
                  <a:srgbClr val="5B6472"/>
                </a:solidFill>
                <a:latin typeface="Calibri" pitchFamily="34" charset="0"/>
                <a:ea typeface="Calibri" pitchFamily="34" charset="-122"/>
                <a:cs typeface="Calibri" pitchFamily="34" charset="-120"/>
              </a:rPr>
              <a:t>ML / AI</a:t>
            </a:r>
            <a:endParaRPr lang="en-US" sz="1350" dirty="0"/>
          </a:p>
          <a:p>
            <a:pPr algn="ctr" indent="0" marL="0">
              <a:buNone/>
            </a:pPr>
            <a:r>
              <a:rPr lang="en-US" sz="1000" i="1" dirty="0">
                <a:solidFill>
                  <a:srgbClr val="5B6472"/>
                </a:solidFill>
                <a:latin typeface="Calibri" pitchFamily="34" charset="0"/>
                <a:ea typeface="Calibri" pitchFamily="34" charset="-122"/>
                <a:cs typeface="Calibri" pitchFamily="34" charset="-120"/>
              </a:rPr>
              <a:t>Bedrock  •  SageMaker</a:t>
            </a:r>
            <a:endParaRPr lang="en-US" sz="1350" dirty="0"/>
          </a:p>
        </p:txBody>
      </p:sp>
      <p:sp>
        <p:nvSpPr>
          <p:cNvPr id="15" name="Text 13"/>
          <p:cNvSpPr txBox="1"/>
          <p:nvPr/>
        </p:nvSpPr>
        <p:spPr>
          <a:xfrm>
            <a:off x="7452360" y="5650992"/>
            <a:ext cx="4059936" cy="320040"/>
          </a:xfrm>
          <a:prstGeom prst="rect">
            <a:avLst/>
          </a:prstGeom>
          <a:noFill/>
          <a:ln/>
        </p:spPr>
        <p:txBody>
          <a:bodyPr wrap="square" lIns="0" tIns="0" rIns="0" bIns="0" rtlCol="0" anchor="ctr"/>
          <a:lstStyle/>
          <a:p>
            <a:pPr algn="ctr" indent="0" marL="0">
              <a:buNone/>
            </a:pPr>
            <a:r>
              <a:rPr lang="en-US" sz="1050" i="1" dirty="0">
                <a:solidFill>
                  <a:srgbClr val="1C7293"/>
                </a:solidFill>
                <a:latin typeface="Calibri" pitchFamily="34" charset="0"/>
                <a:ea typeface="Calibri" pitchFamily="34" charset="-122"/>
                <a:cs typeface="Calibri" pitchFamily="34" charset="-120"/>
              </a:rPr>
              <a:t>IAM: Security &amp; Identity, spans every category above</a:t>
            </a:r>
            <a:endParaRPr lang="en-US" sz="1050" dirty="0"/>
          </a:p>
        </p:txBody>
      </p:sp>
      <p:sp>
        <p:nvSpPr>
          <p:cNvPr id="16" name="Text 14"/>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AWS service categories, with EC2/VPC/S3/IAM highlighted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11274552"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Wider AWS Landscape</a:t>
            </a:r>
            <a:endParaRPr lang="en-US" sz="3000" dirty="0"/>
          </a:p>
        </p:txBody>
      </p:sp>
      <p:sp>
        <p:nvSpPr>
          <p:cNvPr id="3" name="Text 1"/>
          <p:cNvSpPr txBox="1"/>
          <p:nvPr/>
        </p:nvSpPr>
        <p:spPr>
          <a:xfrm>
            <a:off x="457200" y="987552"/>
            <a:ext cx="11274552" cy="36576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Where EC2, VPC, S3, and IAM sit among AWS's most common services, by category</a:t>
            </a:r>
            <a:endParaRPr lang="en-US" sz="1400" dirty="0"/>
          </a:p>
        </p:txBody>
      </p:sp>
      <p:sp>
        <p:nvSpPr>
          <p:cNvPr id="4" name="Shape 2"/>
          <p:cNvSpPr/>
          <p:nvPr/>
        </p:nvSpPr>
        <p:spPr>
          <a:xfrm>
            <a:off x="457200" y="1691640"/>
            <a:ext cx="2626614" cy="1691640"/>
          </a:xfrm>
          <a:prstGeom prst="roundRect">
            <a:avLst>
              <a:gd name="adj" fmla="val 4324"/>
            </a:avLst>
          </a:prstGeom>
          <a:solidFill>
            <a:srgbClr val="065A82"/>
          </a:solidFill>
          <a:ln w="12700">
            <a:solidFill>
              <a:srgbClr val="065A82"/>
            </a:solidFill>
            <a:prstDash val="solid"/>
          </a:ln>
        </p:spPr>
      </p:sp>
      <p:sp>
        <p:nvSpPr>
          <p:cNvPr id="5" name="Text 3"/>
          <p:cNvSpPr txBox="1"/>
          <p:nvPr/>
        </p:nvSpPr>
        <p:spPr>
          <a:xfrm>
            <a:off x="566928" y="1801368"/>
            <a:ext cx="2407158" cy="1472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Compute</a:t>
            </a:r>
            <a:endParaRPr lang="en-US" sz="1300" dirty="0"/>
          </a:p>
          <a:p>
            <a:pPr algn="ctr" indent="0" marL="0">
              <a:buNone/>
            </a:pPr>
            <a:r>
              <a:rPr lang="en-US" sz="1000" i="1" dirty="0">
                <a:solidFill>
                  <a:srgbClr val="FFFFFF"/>
                </a:solidFill>
                <a:latin typeface="Calibri" pitchFamily="34" charset="0"/>
                <a:ea typeface="Calibri" pitchFamily="34" charset="-122"/>
                <a:cs typeface="Calibri" pitchFamily="34" charset="-120"/>
              </a:rPr>
              <a:t>EC2, Lambda, ECS</a:t>
            </a:r>
            <a:endParaRPr lang="en-US" sz="1300" dirty="0"/>
          </a:p>
        </p:txBody>
      </p:sp>
      <p:sp>
        <p:nvSpPr>
          <p:cNvPr id="6" name="Shape 4"/>
          <p:cNvSpPr/>
          <p:nvPr/>
        </p:nvSpPr>
        <p:spPr>
          <a:xfrm>
            <a:off x="3339846" y="1691640"/>
            <a:ext cx="2626614" cy="1691640"/>
          </a:xfrm>
          <a:prstGeom prst="roundRect">
            <a:avLst>
              <a:gd name="adj" fmla="val 4324"/>
            </a:avLst>
          </a:prstGeom>
          <a:solidFill>
            <a:srgbClr val="065A82"/>
          </a:solidFill>
          <a:ln w="12700">
            <a:solidFill>
              <a:srgbClr val="065A82"/>
            </a:solidFill>
            <a:prstDash val="solid"/>
          </a:ln>
        </p:spPr>
      </p:sp>
      <p:sp>
        <p:nvSpPr>
          <p:cNvPr id="7" name="Text 5"/>
          <p:cNvSpPr txBox="1"/>
          <p:nvPr/>
        </p:nvSpPr>
        <p:spPr>
          <a:xfrm>
            <a:off x="3449574" y="1801368"/>
            <a:ext cx="2407158" cy="1472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Storage</a:t>
            </a:r>
            <a:endParaRPr lang="en-US" sz="1300" dirty="0"/>
          </a:p>
          <a:p>
            <a:pPr algn="ctr" indent="0" marL="0">
              <a:buNone/>
            </a:pPr>
            <a:r>
              <a:rPr lang="en-US" sz="1000" i="1" dirty="0">
                <a:solidFill>
                  <a:srgbClr val="FFFFFF"/>
                </a:solidFill>
                <a:latin typeface="Calibri" pitchFamily="34" charset="0"/>
                <a:ea typeface="Calibri" pitchFamily="34" charset="-122"/>
                <a:cs typeface="Calibri" pitchFamily="34" charset="-120"/>
              </a:rPr>
              <a:t>S3, EBS, EFS</a:t>
            </a:r>
            <a:endParaRPr lang="en-US" sz="1300" dirty="0"/>
          </a:p>
        </p:txBody>
      </p:sp>
      <p:sp>
        <p:nvSpPr>
          <p:cNvPr id="8" name="Shape 6"/>
          <p:cNvSpPr/>
          <p:nvPr/>
        </p:nvSpPr>
        <p:spPr>
          <a:xfrm>
            <a:off x="6222492" y="1691640"/>
            <a:ext cx="2626614" cy="1691640"/>
          </a:xfrm>
          <a:prstGeom prst="roundRect">
            <a:avLst>
              <a:gd name="adj" fmla="val 4324"/>
            </a:avLst>
          </a:prstGeom>
          <a:solidFill>
            <a:srgbClr val="EAF3F7"/>
          </a:solidFill>
          <a:ln w="12700">
            <a:solidFill>
              <a:srgbClr val="C7D3DC"/>
            </a:solidFill>
            <a:prstDash val="solid"/>
          </a:ln>
        </p:spPr>
      </p:sp>
      <p:sp>
        <p:nvSpPr>
          <p:cNvPr id="9" name="Text 7"/>
          <p:cNvSpPr txBox="1"/>
          <p:nvPr/>
        </p:nvSpPr>
        <p:spPr>
          <a:xfrm>
            <a:off x="6332220" y="1801368"/>
            <a:ext cx="2407158" cy="1472184"/>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Databases</a:t>
            </a:r>
            <a:endParaRPr lang="en-US" sz="1300" dirty="0"/>
          </a:p>
          <a:p>
            <a:pPr algn="ctr" indent="0" marL="0">
              <a:buNone/>
            </a:pPr>
            <a:r>
              <a:rPr lang="en-US" sz="1000" i="1" dirty="0">
                <a:solidFill>
                  <a:srgbClr val="21295C"/>
                </a:solidFill>
                <a:latin typeface="Calibri" pitchFamily="34" charset="0"/>
                <a:ea typeface="Calibri" pitchFamily="34" charset="-122"/>
                <a:cs typeface="Calibri" pitchFamily="34" charset="-120"/>
              </a:rPr>
              <a:t>RDS, DynamoDB, Aurora</a:t>
            </a:r>
            <a:endParaRPr lang="en-US" sz="1300" dirty="0"/>
          </a:p>
        </p:txBody>
      </p:sp>
      <p:sp>
        <p:nvSpPr>
          <p:cNvPr id="10" name="Shape 8"/>
          <p:cNvSpPr/>
          <p:nvPr/>
        </p:nvSpPr>
        <p:spPr>
          <a:xfrm>
            <a:off x="9105138" y="1691640"/>
            <a:ext cx="2626614" cy="1691640"/>
          </a:xfrm>
          <a:prstGeom prst="roundRect">
            <a:avLst>
              <a:gd name="adj" fmla="val 4324"/>
            </a:avLst>
          </a:prstGeom>
          <a:solidFill>
            <a:srgbClr val="065A82"/>
          </a:solidFill>
          <a:ln w="12700">
            <a:solidFill>
              <a:srgbClr val="065A82"/>
            </a:solidFill>
            <a:prstDash val="solid"/>
          </a:ln>
        </p:spPr>
      </p:sp>
      <p:sp>
        <p:nvSpPr>
          <p:cNvPr id="11" name="Text 9"/>
          <p:cNvSpPr txBox="1"/>
          <p:nvPr/>
        </p:nvSpPr>
        <p:spPr>
          <a:xfrm>
            <a:off x="9214866" y="1801368"/>
            <a:ext cx="2407158" cy="1472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Networking &amp; Content Delivery</a:t>
            </a:r>
            <a:endParaRPr lang="en-US" sz="1300" dirty="0"/>
          </a:p>
          <a:p>
            <a:pPr algn="ctr" indent="0" marL="0">
              <a:buNone/>
            </a:pPr>
            <a:r>
              <a:rPr lang="en-US" sz="1000" i="1" dirty="0">
                <a:solidFill>
                  <a:srgbClr val="FFFFFF"/>
                </a:solidFill>
                <a:latin typeface="Calibri" pitchFamily="34" charset="0"/>
                <a:ea typeface="Calibri" pitchFamily="34" charset="-122"/>
                <a:cs typeface="Calibri" pitchFamily="34" charset="-120"/>
              </a:rPr>
              <a:t>VPC, Route 53, CloudFront</a:t>
            </a:r>
            <a:endParaRPr lang="en-US" sz="1300" dirty="0"/>
          </a:p>
        </p:txBody>
      </p:sp>
      <p:sp>
        <p:nvSpPr>
          <p:cNvPr id="12" name="Shape 10"/>
          <p:cNvSpPr/>
          <p:nvPr/>
        </p:nvSpPr>
        <p:spPr>
          <a:xfrm>
            <a:off x="457200" y="3639312"/>
            <a:ext cx="2626614" cy="1691640"/>
          </a:xfrm>
          <a:prstGeom prst="roundRect">
            <a:avLst>
              <a:gd name="adj" fmla="val 4324"/>
            </a:avLst>
          </a:prstGeom>
          <a:solidFill>
            <a:srgbClr val="065A82"/>
          </a:solidFill>
          <a:ln w="12700">
            <a:solidFill>
              <a:srgbClr val="065A82"/>
            </a:solidFill>
            <a:prstDash val="solid"/>
          </a:ln>
        </p:spPr>
      </p:sp>
      <p:sp>
        <p:nvSpPr>
          <p:cNvPr id="13" name="Text 11"/>
          <p:cNvSpPr txBox="1"/>
          <p:nvPr/>
        </p:nvSpPr>
        <p:spPr>
          <a:xfrm>
            <a:off x="566928" y="3749040"/>
            <a:ext cx="2407158" cy="1472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Security, Identity &amp; Compliance</a:t>
            </a:r>
            <a:endParaRPr lang="en-US" sz="1300" dirty="0"/>
          </a:p>
          <a:p>
            <a:pPr algn="ctr" indent="0" marL="0">
              <a:buNone/>
            </a:pPr>
            <a:r>
              <a:rPr lang="en-US" sz="1000" i="1" dirty="0">
                <a:solidFill>
                  <a:srgbClr val="FFFFFF"/>
                </a:solidFill>
                <a:latin typeface="Calibri" pitchFamily="34" charset="0"/>
                <a:ea typeface="Calibri" pitchFamily="34" charset="-122"/>
                <a:cs typeface="Calibri" pitchFamily="34" charset="-120"/>
              </a:rPr>
              <a:t>IAM, KMS, WAF</a:t>
            </a:r>
            <a:endParaRPr lang="en-US" sz="1300" dirty="0"/>
          </a:p>
        </p:txBody>
      </p:sp>
      <p:sp>
        <p:nvSpPr>
          <p:cNvPr id="14" name="Shape 12"/>
          <p:cNvSpPr/>
          <p:nvPr/>
        </p:nvSpPr>
        <p:spPr>
          <a:xfrm>
            <a:off x="3339846" y="3639312"/>
            <a:ext cx="2626614" cy="1691640"/>
          </a:xfrm>
          <a:prstGeom prst="roundRect">
            <a:avLst>
              <a:gd name="adj" fmla="val 4324"/>
            </a:avLst>
          </a:prstGeom>
          <a:solidFill>
            <a:srgbClr val="EAF3F7"/>
          </a:solidFill>
          <a:ln w="12700">
            <a:solidFill>
              <a:srgbClr val="C7D3DC"/>
            </a:solidFill>
            <a:prstDash val="solid"/>
          </a:ln>
        </p:spPr>
      </p:sp>
      <p:sp>
        <p:nvSpPr>
          <p:cNvPr id="15" name="Text 13"/>
          <p:cNvSpPr txBox="1"/>
          <p:nvPr/>
        </p:nvSpPr>
        <p:spPr>
          <a:xfrm>
            <a:off x="3449574" y="3749040"/>
            <a:ext cx="2407158" cy="1472184"/>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Machine Learning / AI</a:t>
            </a:r>
            <a:endParaRPr lang="en-US" sz="1300" dirty="0"/>
          </a:p>
          <a:p>
            <a:pPr algn="ctr" indent="0" marL="0">
              <a:buNone/>
            </a:pPr>
            <a:r>
              <a:rPr lang="en-US" sz="1000" i="1" dirty="0">
                <a:solidFill>
                  <a:srgbClr val="21295C"/>
                </a:solidFill>
                <a:latin typeface="Calibri" pitchFamily="34" charset="0"/>
                <a:ea typeface="Calibri" pitchFamily="34" charset="-122"/>
                <a:cs typeface="Calibri" pitchFamily="34" charset="-120"/>
              </a:rPr>
              <a:t>Bedrock, SageMaker, Rekognition</a:t>
            </a:r>
            <a:endParaRPr lang="en-US" sz="1300" dirty="0"/>
          </a:p>
        </p:txBody>
      </p:sp>
      <p:sp>
        <p:nvSpPr>
          <p:cNvPr id="16" name="Shape 14"/>
          <p:cNvSpPr/>
          <p:nvPr/>
        </p:nvSpPr>
        <p:spPr>
          <a:xfrm>
            <a:off x="6222492" y="3639312"/>
            <a:ext cx="2626614" cy="1691640"/>
          </a:xfrm>
          <a:prstGeom prst="roundRect">
            <a:avLst>
              <a:gd name="adj" fmla="val 4324"/>
            </a:avLst>
          </a:prstGeom>
          <a:solidFill>
            <a:srgbClr val="EAF3F7"/>
          </a:solidFill>
          <a:ln w="12700">
            <a:solidFill>
              <a:srgbClr val="C7D3DC"/>
            </a:solidFill>
            <a:prstDash val="solid"/>
          </a:ln>
        </p:spPr>
      </p:sp>
      <p:sp>
        <p:nvSpPr>
          <p:cNvPr id="17" name="Text 15"/>
          <p:cNvSpPr txBox="1"/>
          <p:nvPr/>
        </p:nvSpPr>
        <p:spPr>
          <a:xfrm>
            <a:off x="6332220" y="3749040"/>
            <a:ext cx="2407158" cy="1472184"/>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Analytics</a:t>
            </a:r>
            <a:endParaRPr lang="en-US" sz="1300" dirty="0"/>
          </a:p>
          <a:p>
            <a:pPr algn="ctr" indent="0" marL="0">
              <a:buNone/>
            </a:pPr>
            <a:r>
              <a:rPr lang="en-US" sz="1000" i="1" dirty="0">
                <a:solidFill>
                  <a:srgbClr val="21295C"/>
                </a:solidFill>
                <a:latin typeface="Calibri" pitchFamily="34" charset="0"/>
                <a:ea typeface="Calibri" pitchFamily="34" charset="-122"/>
                <a:cs typeface="Calibri" pitchFamily="34" charset="-120"/>
              </a:rPr>
              <a:t>Athena, Kinesis, Glue</a:t>
            </a:r>
            <a:endParaRPr lang="en-US" sz="1300" dirty="0"/>
          </a:p>
        </p:txBody>
      </p:sp>
      <p:sp>
        <p:nvSpPr>
          <p:cNvPr id="18" name="Shape 16"/>
          <p:cNvSpPr/>
          <p:nvPr/>
        </p:nvSpPr>
        <p:spPr>
          <a:xfrm>
            <a:off x="9105138" y="3639312"/>
            <a:ext cx="2626614" cy="1691640"/>
          </a:xfrm>
          <a:prstGeom prst="roundRect">
            <a:avLst>
              <a:gd name="adj" fmla="val 4324"/>
            </a:avLst>
          </a:prstGeom>
          <a:solidFill>
            <a:srgbClr val="EAF3F7"/>
          </a:solidFill>
          <a:ln w="12700">
            <a:solidFill>
              <a:srgbClr val="C7D3DC"/>
            </a:solidFill>
            <a:prstDash val="solid"/>
          </a:ln>
        </p:spPr>
      </p:sp>
      <p:sp>
        <p:nvSpPr>
          <p:cNvPr id="19" name="Text 17"/>
          <p:cNvSpPr txBox="1"/>
          <p:nvPr/>
        </p:nvSpPr>
        <p:spPr>
          <a:xfrm>
            <a:off x="9214866" y="3749040"/>
            <a:ext cx="2407158" cy="1472184"/>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Management &amp; Governance</a:t>
            </a:r>
            <a:endParaRPr lang="en-US" sz="1300" dirty="0"/>
          </a:p>
          <a:p>
            <a:pPr algn="ctr" indent="0" marL="0">
              <a:buNone/>
            </a:pPr>
            <a:r>
              <a:rPr lang="en-US" sz="1000" i="1" dirty="0">
                <a:solidFill>
                  <a:srgbClr val="21295C"/>
                </a:solidFill>
                <a:latin typeface="Calibri" pitchFamily="34" charset="0"/>
                <a:ea typeface="Calibri" pitchFamily="34" charset="-122"/>
                <a:cs typeface="Calibri" pitchFamily="34" charset="-120"/>
              </a:rPr>
              <a:t>CloudWatch, CloudTrail, Systems Manager</a:t>
            </a:r>
            <a:endParaRPr lang="en-US" sz="1300" dirty="0"/>
          </a:p>
        </p:txBody>
      </p:sp>
      <p:sp>
        <p:nvSpPr>
          <p:cNvPr id="20" name="Text 18"/>
          <p:cNvSpPr txBox="1"/>
          <p:nvPr/>
        </p:nvSpPr>
        <p:spPr>
          <a:xfrm>
            <a:off x="457200" y="5559552"/>
            <a:ext cx="11274552" cy="365760"/>
          </a:xfrm>
          <a:prstGeom prst="rect">
            <a:avLst/>
          </a:prstGeom>
          <a:noFill/>
          <a:ln/>
        </p:spPr>
        <p:txBody>
          <a:bodyPr wrap="square" lIns="0" tIns="0" rIns="0" bIns="0" rtlCol="0" anchor="ctr"/>
          <a:lstStyle/>
          <a:p>
            <a:pPr algn="ctr" indent="0" marL="0">
              <a:buNone/>
            </a:pPr>
            <a:r>
              <a:rPr lang="en-US" sz="1100" i="1" dirty="0">
                <a:solidFill>
                  <a:srgbClr val="1C7293"/>
                </a:solidFill>
                <a:latin typeface="Calibri" pitchFamily="34" charset="0"/>
                <a:ea typeface="Calibri" pitchFamily="34" charset="-122"/>
                <a:cs typeface="Calibri" pitchFamily="34" charset="-120"/>
              </a:rPr>
              <a:t>Highlighted: where this week's work lives (Compute/EC2, Networking/VPC, Storage/S3, Security/IAM)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AWS Regions &amp; Availability Zones</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Region: a physical location where AWS clusters data centers (39 regions today)</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Every region has 3+ Availability Zones (AZs) — 124 AZs total</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An AZ = one or more data centers with its own power, networking, connectivity</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Far enough apart to survive an outage, close enough for low-latency links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Your team's Region choice today is sticky — pick one and keep it all week</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7543800" y="1828800"/>
            <a:ext cx="3877056" cy="3291840"/>
          </a:xfrm>
          <a:prstGeom prst="roundRect">
            <a:avLst>
              <a:gd name="adj" fmla="val 2778"/>
            </a:avLst>
          </a:prstGeom>
          <a:solidFill>
            <a:srgbClr val="FFFFFF"/>
          </a:solidFill>
          <a:ln w="25400">
            <a:solidFill>
              <a:srgbClr val="065A82"/>
            </a:solidFill>
            <a:prstDash val="dash"/>
          </a:ln>
        </p:spPr>
      </p:sp>
      <p:sp>
        <p:nvSpPr>
          <p:cNvPr id="6" name="Text 4"/>
          <p:cNvSpPr txBox="1"/>
          <p:nvPr/>
        </p:nvSpPr>
        <p:spPr>
          <a:xfrm>
            <a:off x="7543800" y="1920240"/>
            <a:ext cx="3877056" cy="32004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1 AWS REGION</a:t>
            </a:r>
            <a:endParaRPr lang="en-US" sz="1100" dirty="0"/>
          </a:p>
        </p:txBody>
      </p:sp>
      <p:sp>
        <p:nvSpPr>
          <p:cNvPr id="7" name="Shape 5"/>
          <p:cNvSpPr/>
          <p:nvPr/>
        </p:nvSpPr>
        <p:spPr>
          <a:xfrm>
            <a:off x="7950708" y="2788920"/>
            <a:ext cx="868680" cy="1371600"/>
          </a:xfrm>
          <a:prstGeom prst="roundRect">
            <a:avLst>
              <a:gd name="adj" fmla="val 6316"/>
            </a:avLst>
          </a:prstGeom>
          <a:solidFill>
            <a:srgbClr val="1C7293"/>
          </a:solidFill>
          <a:ln w="12700">
            <a:solidFill>
              <a:srgbClr val="21295C"/>
            </a:solidFill>
            <a:prstDash val="solid"/>
          </a:ln>
        </p:spPr>
      </p:sp>
      <p:sp>
        <p:nvSpPr>
          <p:cNvPr id="8" name="Text 6"/>
          <p:cNvSpPr txBox="1"/>
          <p:nvPr/>
        </p:nvSpPr>
        <p:spPr>
          <a:xfrm>
            <a:off x="7950708" y="2788920"/>
            <a:ext cx="868680" cy="13716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AZ 1</a:t>
            </a:r>
            <a:endParaRPr lang="en-US" sz="1200" dirty="0"/>
          </a:p>
        </p:txBody>
      </p:sp>
      <p:sp>
        <p:nvSpPr>
          <p:cNvPr id="9" name="Shape 7"/>
          <p:cNvSpPr/>
          <p:nvPr/>
        </p:nvSpPr>
        <p:spPr>
          <a:xfrm>
            <a:off x="8819388" y="3474720"/>
            <a:ext cx="228600" cy="0"/>
          </a:xfrm>
          <a:prstGeom prst="line">
            <a:avLst/>
          </a:prstGeom>
          <a:noFill/>
          <a:ln w="19050">
            <a:solidFill>
              <a:srgbClr val="065A82"/>
            </a:solidFill>
            <a:prstDash val="solid"/>
          </a:ln>
        </p:spPr>
      </p:sp>
      <p:sp>
        <p:nvSpPr>
          <p:cNvPr id="10" name="Shape 8"/>
          <p:cNvSpPr/>
          <p:nvPr/>
        </p:nvSpPr>
        <p:spPr>
          <a:xfrm>
            <a:off x="9047988" y="2788920"/>
            <a:ext cx="868680" cy="1371600"/>
          </a:xfrm>
          <a:prstGeom prst="roundRect">
            <a:avLst>
              <a:gd name="adj" fmla="val 6316"/>
            </a:avLst>
          </a:prstGeom>
          <a:solidFill>
            <a:srgbClr val="1C7293"/>
          </a:solidFill>
          <a:ln w="12700">
            <a:solidFill>
              <a:srgbClr val="21295C"/>
            </a:solidFill>
            <a:prstDash val="solid"/>
          </a:ln>
        </p:spPr>
      </p:sp>
      <p:sp>
        <p:nvSpPr>
          <p:cNvPr id="11" name="Text 9"/>
          <p:cNvSpPr txBox="1"/>
          <p:nvPr/>
        </p:nvSpPr>
        <p:spPr>
          <a:xfrm>
            <a:off x="9047988" y="2788920"/>
            <a:ext cx="868680" cy="13716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AZ 2</a:t>
            </a:r>
            <a:endParaRPr lang="en-US" sz="1200" dirty="0"/>
          </a:p>
        </p:txBody>
      </p:sp>
      <p:sp>
        <p:nvSpPr>
          <p:cNvPr id="12" name="Shape 10"/>
          <p:cNvSpPr/>
          <p:nvPr/>
        </p:nvSpPr>
        <p:spPr>
          <a:xfrm>
            <a:off x="9916668" y="3474720"/>
            <a:ext cx="228600" cy="0"/>
          </a:xfrm>
          <a:prstGeom prst="line">
            <a:avLst/>
          </a:prstGeom>
          <a:noFill/>
          <a:ln w="19050">
            <a:solidFill>
              <a:srgbClr val="065A82"/>
            </a:solidFill>
            <a:prstDash val="solid"/>
          </a:ln>
        </p:spPr>
      </p:sp>
      <p:sp>
        <p:nvSpPr>
          <p:cNvPr id="13" name="Shape 11"/>
          <p:cNvSpPr/>
          <p:nvPr/>
        </p:nvSpPr>
        <p:spPr>
          <a:xfrm>
            <a:off x="10145268" y="2788920"/>
            <a:ext cx="868680" cy="1371600"/>
          </a:xfrm>
          <a:prstGeom prst="roundRect">
            <a:avLst>
              <a:gd name="adj" fmla="val 6316"/>
            </a:avLst>
          </a:prstGeom>
          <a:solidFill>
            <a:srgbClr val="1C7293"/>
          </a:solidFill>
          <a:ln w="12700">
            <a:solidFill>
              <a:srgbClr val="21295C"/>
            </a:solidFill>
            <a:prstDash val="solid"/>
          </a:ln>
        </p:spPr>
      </p:sp>
      <p:sp>
        <p:nvSpPr>
          <p:cNvPr id="14" name="Text 12"/>
          <p:cNvSpPr txBox="1"/>
          <p:nvPr/>
        </p:nvSpPr>
        <p:spPr>
          <a:xfrm>
            <a:off x="10145268" y="2788920"/>
            <a:ext cx="868680" cy="13716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AZ 3</a:t>
            </a:r>
            <a:endParaRPr lang="en-US" sz="1200" dirty="0"/>
          </a:p>
        </p:txBody>
      </p:sp>
      <p:sp>
        <p:nvSpPr>
          <p:cNvPr id="15" name="Text 13"/>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One region containing three Availability Zones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EC2 Instances &amp; AMIs</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EC2 = Amazon's virtual server service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Instance = one running virtual machine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AMI (Amazon Machine Image) = the template an instance launches from</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Instance type sets vCPU, memory, network, and cost — resizable later</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Key pair = the credential used to connect over SSH</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7680960" y="2377440"/>
            <a:ext cx="1463040" cy="914400"/>
          </a:xfrm>
          <a:prstGeom prst="roundRect">
            <a:avLst>
              <a:gd name="adj" fmla="val 8000"/>
            </a:avLst>
          </a:prstGeom>
          <a:solidFill>
            <a:srgbClr val="FFFFFF"/>
          </a:solidFill>
          <a:ln w="19050">
            <a:solidFill>
              <a:srgbClr val="1C7293"/>
            </a:solidFill>
            <a:prstDash val="solid"/>
          </a:ln>
        </p:spPr>
      </p:sp>
      <p:sp>
        <p:nvSpPr>
          <p:cNvPr id="6" name="Text 4"/>
          <p:cNvSpPr txBox="1"/>
          <p:nvPr/>
        </p:nvSpPr>
        <p:spPr>
          <a:xfrm>
            <a:off x="7680960" y="2377440"/>
            <a:ext cx="1463040" cy="914400"/>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AMI</a:t>
            </a:r>
            <a:endParaRPr lang="en-US" sz="1200" dirty="0"/>
          </a:p>
          <a:p>
            <a:pPr algn="ctr" indent="0" marL="0">
              <a:buNone/>
            </a:pPr>
            <a:r>
              <a:rPr lang="en-US" sz="1200" b="1" dirty="0">
                <a:solidFill>
                  <a:srgbClr val="21295C"/>
                </a:solidFill>
                <a:latin typeface="Calibri" pitchFamily="34" charset="0"/>
                <a:ea typeface="Calibri" pitchFamily="34" charset="-122"/>
                <a:cs typeface="Calibri" pitchFamily="34" charset="-120"/>
              </a:rPr>
              <a:t>(template)</a:t>
            </a:r>
            <a:endParaRPr lang="en-US" sz="1200" dirty="0"/>
          </a:p>
        </p:txBody>
      </p:sp>
      <p:sp>
        <p:nvSpPr>
          <p:cNvPr id="7" name="Shape 5"/>
          <p:cNvSpPr/>
          <p:nvPr/>
        </p:nvSpPr>
        <p:spPr>
          <a:xfrm>
            <a:off x="9144000" y="2834640"/>
            <a:ext cx="640080" cy="0"/>
          </a:xfrm>
          <a:prstGeom prst="line">
            <a:avLst/>
          </a:prstGeom>
          <a:noFill/>
          <a:ln w="25400">
            <a:solidFill>
              <a:srgbClr val="065A82"/>
            </a:solidFill>
            <a:prstDash val="solid"/>
            <a:tailEnd type="triangle"/>
          </a:ln>
        </p:spPr>
      </p:sp>
      <p:sp>
        <p:nvSpPr>
          <p:cNvPr id="8" name="Shape 6"/>
          <p:cNvSpPr/>
          <p:nvPr/>
        </p:nvSpPr>
        <p:spPr>
          <a:xfrm>
            <a:off x="9829800" y="2240280"/>
            <a:ext cx="1554480" cy="1188720"/>
          </a:xfrm>
          <a:prstGeom prst="roundRect">
            <a:avLst>
              <a:gd name="adj" fmla="val 6154"/>
            </a:avLst>
          </a:prstGeom>
          <a:solidFill>
            <a:srgbClr val="065A82"/>
          </a:solidFill>
          <a:ln/>
        </p:spPr>
      </p:sp>
      <p:sp>
        <p:nvSpPr>
          <p:cNvPr id="9" name="Text 7"/>
          <p:cNvSpPr txBox="1"/>
          <p:nvPr/>
        </p:nvSpPr>
        <p:spPr>
          <a:xfrm>
            <a:off x="9829800" y="2240280"/>
            <a:ext cx="1554480"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EC2</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Instance</a:t>
            </a:r>
            <a:endParaRPr lang="en-US" sz="1300" dirty="0"/>
          </a:p>
        </p:txBody>
      </p:sp>
      <p:sp>
        <p:nvSpPr>
          <p:cNvPr id="10" name="Text 8"/>
          <p:cNvSpPr txBox="1"/>
          <p:nvPr/>
        </p:nvSpPr>
        <p:spPr>
          <a:xfrm>
            <a:off x="9144000" y="2514600"/>
            <a:ext cx="640080" cy="274320"/>
          </a:xfrm>
          <a:prstGeom prst="rect">
            <a:avLst/>
          </a:prstGeom>
          <a:noFill/>
          <a:ln/>
        </p:spPr>
        <p:txBody>
          <a:bodyPr wrap="square" lIns="0" tIns="0" rIns="0" bIns="0" rtlCol="0" anchor="ctr"/>
          <a:lstStyle/>
          <a:p>
            <a:pPr algn="ctr" indent="0" marL="0">
              <a:buNone/>
            </a:pPr>
            <a:r>
              <a:rPr lang="en-US" sz="900" i="1" dirty="0">
                <a:solidFill>
                  <a:srgbClr val="5B6472"/>
                </a:solidFill>
                <a:latin typeface="Calibri" pitchFamily="34" charset="0"/>
                <a:ea typeface="Calibri" pitchFamily="34" charset="-122"/>
                <a:cs typeface="Calibri" pitchFamily="34" charset="-120"/>
              </a:rPr>
              <a:t>launch</a:t>
            </a:r>
            <a:endParaRPr lang="en-US" sz="900" dirty="0"/>
          </a:p>
        </p:txBody>
      </p:sp>
      <p:sp>
        <p:nvSpPr>
          <p:cNvPr id="11" name="Shape 9"/>
          <p:cNvSpPr/>
          <p:nvPr/>
        </p:nvSpPr>
        <p:spPr>
          <a:xfrm>
            <a:off x="457200" y="6172200"/>
            <a:ext cx="3116275" cy="384048"/>
          </a:xfrm>
          <a:prstGeom prst="roundRect">
            <a:avLst>
              <a:gd name="adj" fmla="val 19048"/>
            </a:avLst>
          </a:prstGeom>
          <a:solidFill>
            <a:srgbClr val="065A82"/>
          </a:solidFill>
          <a:ln/>
        </p:spPr>
      </p:sp>
      <p:sp>
        <p:nvSpPr>
          <p:cNvPr id="12" name="Text 10"/>
          <p:cNvSpPr txBox="1"/>
          <p:nvPr/>
        </p:nvSpPr>
        <p:spPr>
          <a:xfrm>
            <a:off x="594360" y="6172200"/>
            <a:ext cx="2841955" cy="384048"/>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HANDS-ON  </a:t>
            </a:r>
            <a:pPr indent="0" marL="0">
              <a:buNone/>
            </a:pPr>
            <a:r>
              <a:rPr lang="en-US" sz="1100" dirty="0">
                <a:solidFill>
                  <a:srgbClr val="FFFFFF"/>
                </a:solidFill>
                <a:latin typeface="Calibri" pitchFamily="34" charset="0"/>
                <a:ea typeface="Calibri" pitchFamily="34" charset="-122"/>
                <a:cs typeface="Calibri" pitchFamily="34" charset="-120"/>
              </a:rPr>
              <a:t>Launch an EC2 instance from an AMI</a:t>
            </a:r>
            <a:endParaRPr lang="en-US" sz="1100" dirty="0"/>
          </a:p>
        </p:txBody>
      </p:sp>
      <p:sp>
        <p:nvSpPr>
          <p:cNvPr id="13" name="Text 11"/>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Launching an EC2 instance from an AMI template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Whose Network Is My Instance On?</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Every EC2 instance has to live somewhere on a network the moment it launches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 wide-open, shared, or unmanaged network means anything could potentially reach it</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Before a security group can filter traffic, something has to define the network itself</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That question — which network, which IP range, which zone — has to be answered first</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10314432" y="457200"/>
            <a:ext cx="1417320" cy="384048"/>
          </a:xfrm>
          <a:prstGeom prst="roundRect">
            <a:avLst>
              <a:gd name="adj" fmla="val 19048"/>
            </a:avLst>
          </a:prstGeom>
          <a:solidFill>
            <a:srgbClr val="9C2B2B"/>
          </a:solidFill>
          <a:ln/>
        </p:spPr>
      </p:sp>
      <p:sp>
        <p:nvSpPr>
          <p:cNvPr id="6" name="Text 4"/>
          <p:cNvSpPr txBox="1"/>
          <p:nvPr/>
        </p:nvSpPr>
        <p:spPr>
          <a:xfrm>
            <a:off x="10314432" y="457200"/>
            <a:ext cx="14173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PROBLEM</a:t>
            </a:r>
            <a:endParaRPr lang="en-US" sz="1100" dirty="0"/>
          </a:p>
        </p:txBody>
      </p:sp>
      <p:sp>
        <p:nvSpPr>
          <p:cNvPr id="7" name="Shape 5"/>
          <p:cNvSpPr/>
          <p:nvPr/>
        </p:nvSpPr>
        <p:spPr>
          <a:xfrm>
            <a:off x="8778240" y="2377440"/>
            <a:ext cx="1371600" cy="914400"/>
          </a:xfrm>
          <a:prstGeom prst="roundRect">
            <a:avLst>
              <a:gd name="adj" fmla="val 8000"/>
            </a:avLst>
          </a:prstGeom>
          <a:solidFill>
            <a:srgbClr val="9C2B2B"/>
          </a:solidFill>
          <a:ln/>
        </p:spPr>
      </p:sp>
      <p:sp>
        <p:nvSpPr>
          <p:cNvPr id="8" name="Text 6"/>
          <p:cNvSpPr txBox="1"/>
          <p:nvPr/>
        </p:nvSpPr>
        <p:spPr>
          <a:xfrm>
            <a:off x="8778240" y="2377440"/>
            <a:ext cx="137160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EC2</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Instance</a:t>
            </a:r>
            <a:endParaRPr lang="en-US" sz="1200" dirty="0"/>
          </a:p>
        </p:txBody>
      </p:sp>
      <p:sp>
        <p:nvSpPr>
          <p:cNvPr id="9" name="Text 7"/>
          <p:cNvSpPr txBox="1"/>
          <p:nvPr/>
        </p:nvSpPr>
        <p:spPr>
          <a:xfrm>
            <a:off x="7863840" y="1783080"/>
            <a:ext cx="457200" cy="457200"/>
          </a:xfrm>
          <a:prstGeom prst="rect">
            <a:avLst/>
          </a:prstGeom>
          <a:noFill/>
          <a:ln/>
        </p:spPr>
        <p:txBody>
          <a:bodyPr wrap="square" lIns="0" tIns="0" rIns="0" bIns="0" rtlCol="0" anchor="ctr"/>
          <a:lstStyle/>
          <a:p>
            <a:pPr algn="ctr" indent="0" marL="0">
              <a:buNone/>
            </a:pPr>
            <a:r>
              <a:rPr lang="en-US" sz="2200" b="1" dirty="0">
                <a:solidFill>
                  <a:srgbClr val="9C2B2B"/>
                </a:solidFill>
                <a:latin typeface="Cambria" pitchFamily="34" charset="0"/>
                <a:ea typeface="Cambria" pitchFamily="34" charset="-122"/>
                <a:cs typeface="Cambria" pitchFamily="34" charset="-120"/>
              </a:rPr>
              <a:t>?</a:t>
            </a:r>
            <a:endParaRPr lang="en-US" sz="2200" dirty="0"/>
          </a:p>
        </p:txBody>
      </p:sp>
      <p:sp>
        <p:nvSpPr>
          <p:cNvPr id="10" name="Text 8"/>
          <p:cNvSpPr txBox="1"/>
          <p:nvPr/>
        </p:nvSpPr>
        <p:spPr>
          <a:xfrm>
            <a:off x="10515600" y="1920240"/>
            <a:ext cx="457200" cy="457200"/>
          </a:xfrm>
          <a:prstGeom prst="rect">
            <a:avLst/>
          </a:prstGeom>
          <a:noFill/>
          <a:ln/>
        </p:spPr>
        <p:txBody>
          <a:bodyPr wrap="square" lIns="0" tIns="0" rIns="0" bIns="0" rtlCol="0" anchor="ctr"/>
          <a:lstStyle/>
          <a:p>
            <a:pPr algn="ctr" indent="0" marL="0">
              <a:buNone/>
            </a:pPr>
            <a:r>
              <a:rPr lang="en-US" sz="2200" b="1" dirty="0">
                <a:solidFill>
                  <a:srgbClr val="9C2B2B"/>
                </a:solidFill>
                <a:latin typeface="Cambria" pitchFamily="34" charset="0"/>
                <a:ea typeface="Cambria" pitchFamily="34" charset="-122"/>
                <a:cs typeface="Cambria" pitchFamily="34" charset="-120"/>
              </a:rPr>
              <a:t>?</a:t>
            </a:r>
            <a:endParaRPr lang="en-US" sz="2200" dirty="0"/>
          </a:p>
        </p:txBody>
      </p:sp>
      <p:sp>
        <p:nvSpPr>
          <p:cNvPr id="11" name="Text 9"/>
          <p:cNvSpPr txBox="1"/>
          <p:nvPr/>
        </p:nvSpPr>
        <p:spPr>
          <a:xfrm>
            <a:off x="8046720" y="3703320"/>
            <a:ext cx="457200" cy="457200"/>
          </a:xfrm>
          <a:prstGeom prst="rect">
            <a:avLst/>
          </a:prstGeom>
          <a:noFill/>
          <a:ln/>
        </p:spPr>
        <p:txBody>
          <a:bodyPr wrap="square" lIns="0" tIns="0" rIns="0" bIns="0" rtlCol="0" anchor="ctr"/>
          <a:lstStyle/>
          <a:p>
            <a:pPr algn="ctr" indent="0" marL="0">
              <a:buNone/>
            </a:pPr>
            <a:r>
              <a:rPr lang="en-US" sz="2200" b="1" dirty="0">
                <a:solidFill>
                  <a:srgbClr val="9C2B2B"/>
                </a:solidFill>
                <a:latin typeface="Cambria" pitchFamily="34" charset="0"/>
                <a:ea typeface="Cambria" pitchFamily="34" charset="-122"/>
                <a:cs typeface="Cambria" pitchFamily="34" charset="-120"/>
              </a:rPr>
              <a:t>?</a:t>
            </a:r>
            <a:endParaRPr lang="en-US" sz="2200" dirty="0"/>
          </a:p>
        </p:txBody>
      </p:sp>
      <p:sp>
        <p:nvSpPr>
          <p:cNvPr id="12" name="Text 10"/>
          <p:cNvSpPr txBox="1"/>
          <p:nvPr/>
        </p:nvSpPr>
        <p:spPr>
          <a:xfrm>
            <a:off x="10424160" y="3794760"/>
            <a:ext cx="457200" cy="457200"/>
          </a:xfrm>
          <a:prstGeom prst="rect">
            <a:avLst/>
          </a:prstGeom>
          <a:noFill/>
          <a:ln/>
        </p:spPr>
        <p:txBody>
          <a:bodyPr wrap="square" lIns="0" tIns="0" rIns="0" bIns="0" rtlCol="0" anchor="ctr"/>
          <a:lstStyle/>
          <a:p>
            <a:pPr algn="ctr" indent="0" marL="0">
              <a:buNone/>
            </a:pPr>
            <a:r>
              <a:rPr lang="en-US" sz="2200" b="1" dirty="0">
                <a:solidFill>
                  <a:srgbClr val="9C2B2B"/>
                </a:solidFill>
                <a:latin typeface="Cambria" pitchFamily="34" charset="0"/>
                <a:ea typeface="Cambria" pitchFamily="34" charset="-122"/>
                <a:cs typeface="Cambria" pitchFamily="34" charset="-120"/>
              </a:rPr>
              <a:t>?</a:t>
            </a:r>
            <a:endParaRPr lang="en-US" sz="2200" dirty="0"/>
          </a:p>
        </p:txBody>
      </p:sp>
      <p:sp>
        <p:nvSpPr>
          <p:cNvPr id="13" name="Text 11"/>
          <p:cNvSpPr txBox="1"/>
          <p:nvPr/>
        </p:nvSpPr>
        <p:spPr>
          <a:xfrm>
            <a:off x="7498080" y="4663440"/>
            <a:ext cx="3968496" cy="365760"/>
          </a:xfrm>
          <a:prstGeom prst="rect">
            <a:avLst/>
          </a:prstGeom>
          <a:noFill/>
          <a:ln/>
        </p:spPr>
        <p:txBody>
          <a:bodyPr wrap="square" lIns="0" tIns="0" rIns="0" bIns="0" rtlCol="0" anchor="ctr"/>
          <a:lstStyle/>
          <a:p>
            <a:pPr algn="ctr" indent="0" marL="0">
              <a:buNone/>
            </a:pPr>
            <a:r>
              <a:rPr lang="en-US" sz="1100" i="1" dirty="0">
                <a:solidFill>
                  <a:srgbClr val="9C2B2B"/>
                </a:solidFill>
                <a:latin typeface="Calibri" pitchFamily="34" charset="0"/>
                <a:ea typeface="Calibri" pitchFamily="34" charset="-122"/>
                <a:cs typeface="Calibri" pitchFamily="34" charset="-120"/>
              </a:rPr>
              <a:t>undefined network — could anything reach it?</a:t>
            </a:r>
            <a:endParaRPr lang="en-US" sz="1100" dirty="0"/>
          </a:p>
        </p:txBody>
      </p:sp>
      <p:sp>
        <p:nvSpPr>
          <p:cNvPr id="14" name="Text 12"/>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A lone EC2 instance with no defined network boundary around 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Amazon VPC: Your Private Network</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 VPC is your own logically isolated private network inside AWS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Subnets subdivide a VPC; each subnet lives in exactly one Availability Zone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Every account gets a default VPC per Region, pre-configured so instances launch immediately</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Security groups (next) filter traffic on top of whichever VPC and subnet an instance is in</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10314432" y="457200"/>
            <a:ext cx="1417320" cy="384048"/>
          </a:xfrm>
          <a:prstGeom prst="roundRect">
            <a:avLst>
              <a:gd name="adj" fmla="val 19048"/>
            </a:avLst>
          </a:prstGeom>
          <a:solidFill>
            <a:srgbClr val="065A82"/>
          </a:solidFill>
          <a:ln/>
        </p:spPr>
      </p:sp>
      <p:sp>
        <p:nvSpPr>
          <p:cNvPr id="6" name="Text 4"/>
          <p:cNvSpPr txBox="1"/>
          <p:nvPr/>
        </p:nvSpPr>
        <p:spPr>
          <a:xfrm>
            <a:off x="10314432" y="457200"/>
            <a:ext cx="14173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SOLUTION</a:t>
            </a:r>
            <a:endParaRPr lang="en-US" sz="1100" dirty="0"/>
          </a:p>
        </p:txBody>
      </p:sp>
      <p:sp>
        <p:nvSpPr>
          <p:cNvPr id="7" name="Shape 5"/>
          <p:cNvSpPr/>
          <p:nvPr/>
        </p:nvSpPr>
        <p:spPr>
          <a:xfrm>
            <a:off x="7452360" y="1737360"/>
            <a:ext cx="4059936" cy="3383280"/>
          </a:xfrm>
          <a:prstGeom prst="roundRect">
            <a:avLst>
              <a:gd name="adj" fmla="val 2703"/>
            </a:avLst>
          </a:prstGeom>
          <a:ln w="25400">
            <a:solidFill>
              <a:srgbClr val="065A82"/>
            </a:solidFill>
            <a:prstDash val="dash"/>
          </a:ln>
        </p:spPr>
      </p:sp>
      <p:sp>
        <p:nvSpPr>
          <p:cNvPr id="8" name="Text 6"/>
          <p:cNvSpPr txBox="1"/>
          <p:nvPr/>
        </p:nvSpPr>
        <p:spPr>
          <a:xfrm>
            <a:off x="7452360" y="1828800"/>
            <a:ext cx="4059936" cy="274320"/>
          </a:xfrm>
          <a:prstGeom prst="rect">
            <a:avLst/>
          </a:prstGeom>
          <a:noFill/>
          <a:ln/>
        </p:spPr>
        <p:txBody>
          <a:bodyPr wrap="square" lIns="0" tIns="0" rIns="0" bIns="0" rtlCol="0" anchor="ctr"/>
          <a:lstStyle/>
          <a:p>
            <a:pPr algn="ctr" indent="0" marL="0">
              <a:buNone/>
            </a:pPr>
            <a:r>
              <a:rPr lang="en-US" sz="1050" b="1" dirty="0">
                <a:solidFill>
                  <a:srgbClr val="065A82"/>
                </a:solidFill>
                <a:latin typeface="Calibri" pitchFamily="34" charset="0"/>
                <a:ea typeface="Calibri" pitchFamily="34" charset="-122"/>
                <a:cs typeface="Calibri" pitchFamily="34" charset="-120"/>
              </a:rPr>
              <a:t>VPC (private network)</a:t>
            </a:r>
            <a:endParaRPr lang="en-US" sz="1050" dirty="0"/>
          </a:p>
        </p:txBody>
      </p:sp>
      <p:sp>
        <p:nvSpPr>
          <p:cNvPr id="9" name="Shape 7"/>
          <p:cNvSpPr/>
          <p:nvPr/>
        </p:nvSpPr>
        <p:spPr>
          <a:xfrm>
            <a:off x="7680960" y="2240280"/>
            <a:ext cx="1755648" cy="2606040"/>
          </a:xfrm>
          <a:prstGeom prst="roundRect">
            <a:avLst>
              <a:gd name="adj" fmla="val 4167"/>
            </a:avLst>
          </a:prstGeom>
          <a:solidFill>
            <a:srgbClr val="EAF3F7"/>
          </a:solidFill>
          <a:ln w="12700">
            <a:solidFill>
              <a:srgbClr val="1C7293"/>
            </a:solidFill>
            <a:prstDash val="dash"/>
          </a:ln>
        </p:spPr>
      </p:sp>
      <p:sp>
        <p:nvSpPr>
          <p:cNvPr id="10" name="Text 8"/>
          <p:cNvSpPr txBox="1"/>
          <p:nvPr/>
        </p:nvSpPr>
        <p:spPr>
          <a:xfrm>
            <a:off x="7680960" y="2331720"/>
            <a:ext cx="1755648" cy="274320"/>
          </a:xfrm>
          <a:prstGeom prst="rect">
            <a:avLst/>
          </a:prstGeom>
          <a:noFill/>
          <a:ln/>
        </p:spPr>
        <p:txBody>
          <a:bodyPr wrap="square" lIns="0" tIns="0" rIns="0" bIns="0" rtlCol="0" anchor="ctr"/>
          <a:lstStyle/>
          <a:p>
            <a:pPr algn="ctr" indent="0" marL="0">
              <a:buNone/>
            </a:pPr>
            <a:r>
              <a:rPr lang="en-US" sz="950" b="1" dirty="0">
                <a:solidFill>
                  <a:srgbClr val="1C7293"/>
                </a:solidFill>
                <a:latin typeface="Calibri" pitchFamily="34" charset="0"/>
                <a:ea typeface="Calibri" pitchFamily="34" charset="-122"/>
                <a:cs typeface="Calibri" pitchFamily="34" charset="-120"/>
              </a:rPr>
              <a:t>Subnet (AZ A)</a:t>
            </a:r>
            <a:endParaRPr lang="en-US" sz="950" dirty="0"/>
          </a:p>
        </p:txBody>
      </p:sp>
      <p:sp>
        <p:nvSpPr>
          <p:cNvPr id="11" name="Shape 9"/>
          <p:cNvSpPr/>
          <p:nvPr/>
        </p:nvSpPr>
        <p:spPr>
          <a:xfrm>
            <a:off x="9710928" y="2240280"/>
            <a:ext cx="1755648" cy="2606040"/>
          </a:xfrm>
          <a:prstGeom prst="roundRect">
            <a:avLst>
              <a:gd name="adj" fmla="val 4167"/>
            </a:avLst>
          </a:prstGeom>
          <a:solidFill>
            <a:srgbClr val="EAF3F7"/>
          </a:solidFill>
          <a:ln w="12700">
            <a:solidFill>
              <a:srgbClr val="1C7293"/>
            </a:solidFill>
            <a:prstDash val="dash"/>
          </a:ln>
        </p:spPr>
      </p:sp>
      <p:sp>
        <p:nvSpPr>
          <p:cNvPr id="12" name="Text 10"/>
          <p:cNvSpPr txBox="1"/>
          <p:nvPr/>
        </p:nvSpPr>
        <p:spPr>
          <a:xfrm>
            <a:off x="9710928" y="2331720"/>
            <a:ext cx="1755648" cy="274320"/>
          </a:xfrm>
          <a:prstGeom prst="rect">
            <a:avLst/>
          </a:prstGeom>
          <a:noFill/>
          <a:ln/>
        </p:spPr>
        <p:txBody>
          <a:bodyPr wrap="square" lIns="0" tIns="0" rIns="0" bIns="0" rtlCol="0" anchor="ctr"/>
          <a:lstStyle/>
          <a:p>
            <a:pPr algn="ctr" indent="0" marL="0">
              <a:buNone/>
            </a:pPr>
            <a:r>
              <a:rPr lang="en-US" sz="950" b="1" dirty="0">
                <a:solidFill>
                  <a:srgbClr val="1C7293"/>
                </a:solidFill>
                <a:latin typeface="Calibri" pitchFamily="34" charset="0"/>
                <a:ea typeface="Calibri" pitchFamily="34" charset="-122"/>
                <a:cs typeface="Calibri" pitchFamily="34" charset="-120"/>
              </a:rPr>
              <a:t>Subnet (AZ B)</a:t>
            </a:r>
            <a:endParaRPr lang="en-US" sz="950" dirty="0"/>
          </a:p>
        </p:txBody>
      </p:sp>
      <p:sp>
        <p:nvSpPr>
          <p:cNvPr id="13" name="Shape 11"/>
          <p:cNvSpPr/>
          <p:nvPr/>
        </p:nvSpPr>
        <p:spPr>
          <a:xfrm>
            <a:off x="7909560" y="2880360"/>
            <a:ext cx="1298448" cy="777240"/>
          </a:xfrm>
          <a:prstGeom prst="roundRect">
            <a:avLst>
              <a:gd name="adj" fmla="val 7059"/>
            </a:avLst>
          </a:prstGeom>
          <a:solidFill>
            <a:srgbClr val="065A82"/>
          </a:solidFill>
          <a:ln/>
        </p:spPr>
      </p:sp>
      <p:sp>
        <p:nvSpPr>
          <p:cNvPr id="14" name="Text 12"/>
          <p:cNvSpPr txBox="1"/>
          <p:nvPr/>
        </p:nvSpPr>
        <p:spPr>
          <a:xfrm>
            <a:off x="7909560" y="2880360"/>
            <a:ext cx="1298448"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EC2</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Instance</a:t>
            </a:r>
            <a:endParaRPr lang="en-US" sz="1050" dirty="0"/>
          </a:p>
        </p:txBody>
      </p:sp>
      <p:sp>
        <p:nvSpPr>
          <p:cNvPr id="15" name="Shape 13"/>
          <p:cNvSpPr/>
          <p:nvPr/>
        </p:nvSpPr>
        <p:spPr>
          <a:xfrm>
            <a:off x="8933688" y="2788920"/>
            <a:ext cx="384048" cy="384048"/>
          </a:xfrm>
          <a:prstGeom prst="ellipse">
            <a:avLst/>
          </a:prstGeom>
          <a:solidFill>
            <a:srgbClr val="21295C"/>
          </a:solidFill>
          <a:ln w="12700">
            <a:solidFill>
              <a:srgbClr val="CADCFC"/>
            </a:solidFill>
            <a:prstDash val="solid"/>
          </a:ln>
        </p:spPr>
      </p:sp>
      <p:sp>
        <p:nvSpPr>
          <p:cNvPr id="16" name="Text 14"/>
          <p:cNvSpPr txBox="1"/>
          <p:nvPr/>
        </p:nvSpPr>
        <p:spPr>
          <a:xfrm>
            <a:off x="8933688" y="2788920"/>
            <a:ext cx="384048" cy="384048"/>
          </a:xfrm>
          <a:prstGeom prst="rect">
            <a:avLst/>
          </a:prstGeom>
          <a:noFill/>
          <a:ln/>
        </p:spPr>
        <p:txBody>
          <a:bodyPr wrap="square" lIns="0" tIns="0" rIns="0" bIns="0" rtlCol="0" anchor="ctr"/>
          <a:lstStyle/>
          <a:p>
            <a:pPr algn="ctr" indent="0" marL="0">
              <a:buNone/>
            </a:pPr>
            <a:r>
              <a:rPr lang="en-US" sz="800" b="1" dirty="0">
                <a:solidFill>
                  <a:srgbClr val="CADCFC"/>
                </a:solidFill>
                <a:latin typeface="Calibri" pitchFamily="34" charset="0"/>
                <a:ea typeface="Calibri" pitchFamily="34" charset="-122"/>
                <a:cs typeface="Calibri" pitchFamily="34" charset="-120"/>
              </a:rPr>
              <a:t>SG</a:t>
            </a:r>
            <a:endParaRPr lang="en-US" sz="800" dirty="0"/>
          </a:p>
        </p:txBody>
      </p:sp>
      <p:sp>
        <p:nvSpPr>
          <p:cNvPr id="17" name="Shape 15"/>
          <p:cNvSpPr/>
          <p:nvPr/>
        </p:nvSpPr>
        <p:spPr>
          <a:xfrm>
            <a:off x="457200" y="6172200"/>
            <a:ext cx="3791102" cy="384048"/>
          </a:xfrm>
          <a:prstGeom prst="roundRect">
            <a:avLst>
              <a:gd name="adj" fmla="val 19048"/>
            </a:avLst>
          </a:prstGeom>
          <a:solidFill>
            <a:srgbClr val="065A82"/>
          </a:solidFill>
          <a:ln/>
        </p:spPr>
      </p:sp>
      <p:sp>
        <p:nvSpPr>
          <p:cNvPr id="18" name="Text 16"/>
          <p:cNvSpPr txBox="1"/>
          <p:nvPr/>
        </p:nvSpPr>
        <p:spPr>
          <a:xfrm>
            <a:off x="594360" y="6172200"/>
            <a:ext cx="3516782" cy="384048"/>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HANDS-ON  </a:t>
            </a:r>
            <a:pPr indent="0" marL="0">
              <a:buNone/>
            </a:pPr>
            <a:r>
              <a:rPr lang="en-US" sz="1100" dirty="0">
                <a:solidFill>
                  <a:srgbClr val="FFFFFF"/>
                </a:solidFill>
                <a:latin typeface="Calibri" pitchFamily="34" charset="0"/>
                <a:ea typeface="Calibri" pitchFamily="34" charset="-122"/>
                <a:cs typeface="Calibri" pitchFamily="34" charset="-120"/>
              </a:rPr>
              <a:t>Part of: Launch an EC2 instance from an AMI</a:t>
            </a:r>
            <a:endParaRPr lang="en-US" sz="1100" dirty="0"/>
          </a:p>
        </p:txBody>
      </p:sp>
      <p:sp>
        <p:nvSpPr>
          <p:cNvPr id="19" name="Text 17"/>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A VPC containing subnets across two AZs, with an EC2 instance and its security group</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Security Groups: Your Instance's Firewall</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 security group is a stateful virtual firewall for your instance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Default: no inbound traffic allowed, all outbound traffic allowed</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An inbound rule = Type + Port range + Source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AWS guidance: never open SSH/RDP to 0.0.0.0/0</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7680960" y="2286000"/>
            <a:ext cx="1005840" cy="1005840"/>
          </a:xfrm>
          <a:prstGeom prst="ellipse">
            <a:avLst/>
          </a:prstGeom>
          <a:solidFill>
            <a:srgbClr val="FFFFFF"/>
          </a:solidFill>
          <a:ln w="19050">
            <a:solidFill>
              <a:srgbClr val="5B6472"/>
            </a:solidFill>
            <a:prstDash val="solid"/>
          </a:ln>
        </p:spPr>
      </p:sp>
      <p:sp>
        <p:nvSpPr>
          <p:cNvPr id="6" name="Text 4"/>
          <p:cNvSpPr txBox="1"/>
          <p:nvPr/>
        </p:nvSpPr>
        <p:spPr>
          <a:xfrm>
            <a:off x="7680960" y="2286000"/>
            <a:ext cx="1005840" cy="1005840"/>
          </a:xfrm>
          <a:prstGeom prst="rect">
            <a:avLst/>
          </a:prstGeom>
          <a:noFill/>
          <a:ln/>
        </p:spPr>
        <p:txBody>
          <a:bodyPr wrap="square" lIns="0" tIns="0" rIns="0" bIns="0"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Internet</a:t>
            </a:r>
            <a:endParaRPr lang="en-US" sz="1100" dirty="0"/>
          </a:p>
        </p:txBody>
      </p:sp>
      <p:sp>
        <p:nvSpPr>
          <p:cNvPr id="7" name="Shape 5"/>
          <p:cNvSpPr/>
          <p:nvPr/>
        </p:nvSpPr>
        <p:spPr>
          <a:xfrm>
            <a:off x="9006840" y="2377440"/>
            <a:ext cx="1005840" cy="822960"/>
          </a:xfrm>
          <a:prstGeom prst="roundRect">
            <a:avLst>
              <a:gd name="adj" fmla="val 8889"/>
            </a:avLst>
          </a:prstGeom>
          <a:solidFill>
            <a:srgbClr val="1C7293"/>
          </a:solidFill>
          <a:ln/>
        </p:spPr>
      </p:sp>
      <p:sp>
        <p:nvSpPr>
          <p:cNvPr id="8" name="Text 6"/>
          <p:cNvSpPr txBox="1"/>
          <p:nvPr/>
        </p:nvSpPr>
        <p:spPr>
          <a:xfrm>
            <a:off x="9006840" y="2377440"/>
            <a:ext cx="100584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Security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p>
        </p:txBody>
      </p:sp>
      <p:sp>
        <p:nvSpPr>
          <p:cNvPr id="9" name="Shape 7"/>
          <p:cNvSpPr/>
          <p:nvPr/>
        </p:nvSpPr>
        <p:spPr>
          <a:xfrm>
            <a:off x="10332720" y="2331720"/>
            <a:ext cx="1005840" cy="914400"/>
          </a:xfrm>
          <a:prstGeom prst="roundRect">
            <a:avLst>
              <a:gd name="adj" fmla="val 8000"/>
            </a:avLst>
          </a:prstGeom>
          <a:solidFill>
            <a:srgbClr val="065A82"/>
          </a:solidFill>
          <a:ln/>
        </p:spPr>
      </p:sp>
      <p:sp>
        <p:nvSpPr>
          <p:cNvPr id="10" name="Text 8"/>
          <p:cNvSpPr txBox="1"/>
          <p:nvPr/>
        </p:nvSpPr>
        <p:spPr>
          <a:xfrm>
            <a:off x="10332720" y="2331720"/>
            <a:ext cx="100584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EC2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Instance</a:t>
            </a:r>
            <a:endParaRPr lang="en-US" sz="1100" dirty="0"/>
          </a:p>
        </p:txBody>
      </p:sp>
      <p:sp>
        <p:nvSpPr>
          <p:cNvPr id="11" name="Shape 9"/>
          <p:cNvSpPr/>
          <p:nvPr/>
        </p:nvSpPr>
        <p:spPr>
          <a:xfrm>
            <a:off x="8686800" y="2788920"/>
            <a:ext cx="320040" cy="0"/>
          </a:xfrm>
          <a:prstGeom prst="line">
            <a:avLst/>
          </a:prstGeom>
          <a:noFill/>
          <a:ln w="31750">
            <a:solidFill>
              <a:srgbClr val="2E7D32"/>
            </a:solidFill>
            <a:prstDash val="solid"/>
            <a:tailEnd type="triangle"/>
          </a:ln>
        </p:spPr>
      </p:sp>
      <p:sp>
        <p:nvSpPr>
          <p:cNvPr id="12" name="Shape 10"/>
          <p:cNvSpPr/>
          <p:nvPr/>
        </p:nvSpPr>
        <p:spPr>
          <a:xfrm>
            <a:off x="10012680" y="2788920"/>
            <a:ext cx="320040" cy="0"/>
          </a:xfrm>
          <a:prstGeom prst="line">
            <a:avLst/>
          </a:prstGeom>
          <a:noFill/>
          <a:ln w="31750">
            <a:solidFill>
              <a:srgbClr val="2E7D32"/>
            </a:solidFill>
            <a:prstDash val="solid"/>
            <a:tailEnd type="triangle"/>
          </a:ln>
        </p:spPr>
      </p:sp>
      <p:sp>
        <p:nvSpPr>
          <p:cNvPr id="13" name="Text 11"/>
          <p:cNvSpPr txBox="1"/>
          <p:nvPr/>
        </p:nvSpPr>
        <p:spPr>
          <a:xfrm>
            <a:off x="7589520" y="3429000"/>
            <a:ext cx="3749040" cy="274320"/>
          </a:xfrm>
          <a:prstGeom prst="rect">
            <a:avLst/>
          </a:prstGeom>
          <a:noFill/>
          <a:ln/>
        </p:spPr>
        <p:txBody>
          <a:bodyPr wrap="square" lIns="0" tIns="0" rIns="0" bIns="0" rtlCol="0" anchor="ctr"/>
          <a:lstStyle/>
          <a:p>
            <a:pPr algn="ctr" indent="0" marL="0">
              <a:buNone/>
            </a:pPr>
            <a:r>
              <a:rPr lang="en-US" sz="1000" dirty="0">
                <a:solidFill>
                  <a:srgbClr val="2E7D32"/>
                </a:solidFill>
                <a:latin typeface="Calibri" pitchFamily="34" charset="0"/>
                <a:ea typeface="Calibri" pitchFamily="34" charset="-122"/>
                <a:cs typeface="Calibri" pitchFamily="34" charset="-120"/>
              </a:rPr>
              <a:t>your IP, app port  →  allowed</a:t>
            </a:r>
            <a:endParaRPr lang="en-US" sz="1000" dirty="0"/>
          </a:p>
        </p:txBody>
      </p:sp>
      <p:sp>
        <p:nvSpPr>
          <p:cNvPr id="14" name="Text 12"/>
          <p:cNvSpPr txBox="1"/>
          <p:nvPr/>
        </p:nvSpPr>
        <p:spPr>
          <a:xfrm>
            <a:off x="7589520" y="3703320"/>
            <a:ext cx="3749040" cy="274320"/>
          </a:xfrm>
          <a:prstGeom prst="rect">
            <a:avLst/>
          </a:prstGeom>
          <a:noFill/>
          <a:ln/>
        </p:spPr>
        <p:txBody>
          <a:bodyPr wrap="square" lIns="0" tIns="0" rIns="0" bIns="0" rtlCol="0" anchor="ctr"/>
          <a:lstStyle/>
          <a:p>
            <a:pPr algn="ctr" indent="0" marL="0">
              <a:buNone/>
            </a:pPr>
            <a:r>
              <a:rPr lang="en-US" sz="1000" dirty="0">
                <a:solidFill>
                  <a:srgbClr val="C62828"/>
                </a:solidFill>
                <a:latin typeface="Calibri" pitchFamily="34" charset="0"/>
                <a:ea typeface="Calibri" pitchFamily="34" charset="-122"/>
                <a:cs typeface="Calibri" pitchFamily="34" charset="-120"/>
              </a:rPr>
              <a:t>0.0.0.0/0  →  blocked by policy</a:t>
            </a:r>
            <a:endParaRPr lang="en-US" sz="1000" dirty="0"/>
          </a:p>
        </p:txBody>
      </p:sp>
      <p:sp>
        <p:nvSpPr>
          <p:cNvPr id="15" name="Shape 13"/>
          <p:cNvSpPr/>
          <p:nvPr/>
        </p:nvSpPr>
        <p:spPr>
          <a:xfrm>
            <a:off x="457200" y="6172200"/>
            <a:ext cx="3266237" cy="384048"/>
          </a:xfrm>
          <a:prstGeom prst="roundRect">
            <a:avLst>
              <a:gd name="adj" fmla="val 19048"/>
            </a:avLst>
          </a:prstGeom>
          <a:solidFill>
            <a:srgbClr val="065A82"/>
          </a:solidFill>
          <a:ln/>
        </p:spPr>
      </p:sp>
      <p:sp>
        <p:nvSpPr>
          <p:cNvPr id="16" name="Text 14"/>
          <p:cNvSpPr txBox="1"/>
          <p:nvPr/>
        </p:nvSpPr>
        <p:spPr>
          <a:xfrm>
            <a:off x="594360" y="6172200"/>
            <a:ext cx="2991917" cy="384048"/>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HANDS-ON  </a:t>
            </a:r>
            <a:pPr indent="0" marL="0">
              <a:buNone/>
            </a:pPr>
            <a:r>
              <a:rPr lang="en-US" sz="1100" dirty="0">
                <a:solidFill>
                  <a:srgbClr val="FFFFFF"/>
                </a:solidFill>
                <a:latin typeface="Calibri" pitchFamily="34" charset="0"/>
                <a:ea typeface="Calibri" pitchFamily="34" charset="-122"/>
                <a:cs typeface="Calibri" pitchFamily="34" charset="-120"/>
              </a:rPr>
              <a:t>Open the port the capstone app needs</a:t>
            </a:r>
            <a:endParaRPr lang="en-US" sz="1100" dirty="0"/>
          </a:p>
        </p:txBody>
      </p:sp>
      <p:sp>
        <p:nvSpPr>
          <p:cNvPr id="17" name="Text 15"/>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Security group filtering inbound traffic to EC2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Auto Scaling Groups: Desired, Min, Max</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Launch template = saved, reusable instance definition (AMI, type, key pair, security groups)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Desired capacity: how many instances should run right now</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Minimum / Maximum capacity: the floor and ceiling the group can scale between</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Spreading instances across 2+ AZs makes the fleet resilient</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8595360" y="1691640"/>
            <a:ext cx="1828800" cy="548640"/>
          </a:xfrm>
          <a:prstGeom prst="roundRect">
            <a:avLst>
              <a:gd name="adj" fmla="val 13333"/>
            </a:avLst>
          </a:prstGeom>
          <a:solidFill>
            <a:srgbClr val="1C7293"/>
          </a:solidFill>
          <a:ln/>
        </p:spPr>
      </p:sp>
      <p:sp>
        <p:nvSpPr>
          <p:cNvPr id="6" name="Text 4"/>
          <p:cNvSpPr txBox="1"/>
          <p:nvPr/>
        </p:nvSpPr>
        <p:spPr>
          <a:xfrm>
            <a:off x="8595360" y="1691640"/>
            <a:ext cx="18288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Launch Template</a:t>
            </a:r>
            <a:endParaRPr lang="en-US" sz="1100" dirty="0"/>
          </a:p>
        </p:txBody>
      </p:sp>
      <p:sp>
        <p:nvSpPr>
          <p:cNvPr id="7" name="Shape 5"/>
          <p:cNvSpPr/>
          <p:nvPr/>
        </p:nvSpPr>
        <p:spPr>
          <a:xfrm>
            <a:off x="9509760" y="2240280"/>
            <a:ext cx="0" cy="320040"/>
          </a:xfrm>
          <a:prstGeom prst="line">
            <a:avLst/>
          </a:prstGeom>
          <a:noFill/>
          <a:ln w="25400">
            <a:solidFill>
              <a:srgbClr val="065A82"/>
            </a:solidFill>
            <a:prstDash val="solid"/>
            <a:tailEnd type="triangle"/>
          </a:ln>
        </p:spPr>
      </p:sp>
      <p:sp>
        <p:nvSpPr>
          <p:cNvPr id="8" name="Shape 6"/>
          <p:cNvSpPr/>
          <p:nvPr/>
        </p:nvSpPr>
        <p:spPr>
          <a:xfrm>
            <a:off x="7726680" y="2606040"/>
            <a:ext cx="1737360" cy="1828800"/>
          </a:xfrm>
          <a:prstGeom prst="roundRect">
            <a:avLst>
              <a:gd name="adj" fmla="val 4211"/>
            </a:avLst>
          </a:prstGeom>
          <a:solidFill>
            <a:srgbClr val="FFFFFF"/>
          </a:solidFill>
          <a:ln w="12700">
            <a:solidFill>
              <a:srgbClr val="065A82"/>
            </a:solidFill>
            <a:prstDash val="dash"/>
          </a:ln>
        </p:spPr>
      </p:sp>
      <p:sp>
        <p:nvSpPr>
          <p:cNvPr id="9" name="Text 7"/>
          <p:cNvSpPr txBox="1"/>
          <p:nvPr/>
        </p:nvSpPr>
        <p:spPr>
          <a:xfrm>
            <a:off x="7726680" y="2651760"/>
            <a:ext cx="1737360" cy="274320"/>
          </a:xfrm>
          <a:prstGeom prst="rect">
            <a:avLst/>
          </a:prstGeom>
          <a:noFill/>
          <a:ln/>
        </p:spPr>
        <p:txBody>
          <a:bodyPr wrap="square" lIns="0" tIns="0" rIns="0" bIns="0" rtlCol="0" anchor="ctr"/>
          <a:lstStyle/>
          <a:p>
            <a:pPr algn="ctr" indent="0" marL="0">
              <a:buNone/>
            </a:pPr>
            <a:r>
              <a:rPr lang="en-US" sz="1000" b="1" dirty="0">
                <a:solidFill>
                  <a:srgbClr val="065A82"/>
                </a:solidFill>
                <a:latin typeface="Calibri" pitchFamily="34" charset="0"/>
                <a:ea typeface="Calibri" pitchFamily="34" charset="-122"/>
                <a:cs typeface="Calibri" pitchFamily="34" charset="-120"/>
              </a:rPr>
              <a:t>AZ A</a:t>
            </a:r>
            <a:endParaRPr lang="en-US" sz="1000" dirty="0"/>
          </a:p>
        </p:txBody>
      </p:sp>
      <p:sp>
        <p:nvSpPr>
          <p:cNvPr id="10" name="Shape 8"/>
          <p:cNvSpPr/>
          <p:nvPr/>
        </p:nvSpPr>
        <p:spPr>
          <a:xfrm>
            <a:off x="8229600" y="3017520"/>
            <a:ext cx="731520" cy="502920"/>
          </a:xfrm>
          <a:prstGeom prst="roundRect">
            <a:avLst>
              <a:gd name="adj" fmla="val 10909"/>
            </a:avLst>
          </a:prstGeom>
          <a:solidFill>
            <a:srgbClr val="065A82"/>
          </a:solidFill>
          <a:ln/>
        </p:spPr>
      </p:sp>
      <p:sp>
        <p:nvSpPr>
          <p:cNvPr id="11" name="Text 9"/>
          <p:cNvSpPr txBox="1"/>
          <p:nvPr/>
        </p:nvSpPr>
        <p:spPr>
          <a:xfrm>
            <a:off x="8229600" y="3017520"/>
            <a:ext cx="731520" cy="5029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running</a:t>
            </a:r>
            <a:endParaRPr lang="en-US" sz="850" dirty="0"/>
          </a:p>
        </p:txBody>
      </p:sp>
      <p:sp>
        <p:nvSpPr>
          <p:cNvPr id="12" name="Shape 10"/>
          <p:cNvSpPr/>
          <p:nvPr/>
        </p:nvSpPr>
        <p:spPr>
          <a:xfrm>
            <a:off x="8229600" y="3657600"/>
            <a:ext cx="731520" cy="502920"/>
          </a:xfrm>
          <a:prstGeom prst="roundRect">
            <a:avLst>
              <a:gd name="adj" fmla="val 10909"/>
            </a:avLst>
          </a:prstGeom>
          <a:ln w="19050">
            <a:solidFill>
              <a:srgbClr val="065A82"/>
            </a:solidFill>
            <a:prstDash val="dash"/>
          </a:ln>
        </p:spPr>
      </p:sp>
      <p:sp>
        <p:nvSpPr>
          <p:cNvPr id="13" name="Text 11"/>
          <p:cNvSpPr txBox="1"/>
          <p:nvPr/>
        </p:nvSpPr>
        <p:spPr>
          <a:xfrm>
            <a:off x="8229600" y="3657600"/>
            <a:ext cx="731520" cy="502920"/>
          </a:xfrm>
          <a:prstGeom prst="rect">
            <a:avLst/>
          </a:prstGeom>
          <a:noFill/>
          <a:ln/>
        </p:spPr>
        <p:txBody>
          <a:bodyPr wrap="square" lIns="0" tIns="0" rIns="0" bIns="0" rtlCol="0" anchor="ctr"/>
          <a:lstStyle/>
          <a:p>
            <a:pPr algn="ctr" indent="0" marL="0">
              <a:buNone/>
            </a:pPr>
            <a:r>
              <a:rPr lang="en-US" sz="750" i="1" dirty="0">
                <a:solidFill>
                  <a:srgbClr val="5B6472"/>
                </a:solidFill>
                <a:latin typeface="Calibri" pitchFamily="34" charset="0"/>
                <a:ea typeface="Calibri" pitchFamily="34" charset="-122"/>
                <a:cs typeface="Calibri" pitchFamily="34" charset="-120"/>
              </a:rPr>
              <a:t>can scale to</a:t>
            </a:r>
            <a:endParaRPr lang="en-US" sz="750" dirty="0"/>
          </a:p>
        </p:txBody>
      </p:sp>
      <p:sp>
        <p:nvSpPr>
          <p:cNvPr id="14" name="Shape 12"/>
          <p:cNvSpPr/>
          <p:nvPr/>
        </p:nvSpPr>
        <p:spPr>
          <a:xfrm>
            <a:off x="9738360" y="2606040"/>
            <a:ext cx="1737360" cy="1828800"/>
          </a:xfrm>
          <a:prstGeom prst="roundRect">
            <a:avLst>
              <a:gd name="adj" fmla="val 4211"/>
            </a:avLst>
          </a:prstGeom>
          <a:solidFill>
            <a:srgbClr val="FFFFFF"/>
          </a:solidFill>
          <a:ln w="12700">
            <a:solidFill>
              <a:srgbClr val="065A82"/>
            </a:solidFill>
            <a:prstDash val="dash"/>
          </a:ln>
        </p:spPr>
      </p:sp>
      <p:sp>
        <p:nvSpPr>
          <p:cNvPr id="15" name="Text 13"/>
          <p:cNvSpPr txBox="1"/>
          <p:nvPr/>
        </p:nvSpPr>
        <p:spPr>
          <a:xfrm>
            <a:off x="9738360" y="2651760"/>
            <a:ext cx="1737360" cy="274320"/>
          </a:xfrm>
          <a:prstGeom prst="rect">
            <a:avLst/>
          </a:prstGeom>
          <a:noFill/>
          <a:ln/>
        </p:spPr>
        <p:txBody>
          <a:bodyPr wrap="square" lIns="0" tIns="0" rIns="0" bIns="0" rtlCol="0" anchor="ctr"/>
          <a:lstStyle/>
          <a:p>
            <a:pPr algn="ctr" indent="0" marL="0">
              <a:buNone/>
            </a:pPr>
            <a:r>
              <a:rPr lang="en-US" sz="1000" b="1" dirty="0">
                <a:solidFill>
                  <a:srgbClr val="065A82"/>
                </a:solidFill>
                <a:latin typeface="Calibri" pitchFamily="34" charset="0"/>
                <a:ea typeface="Calibri" pitchFamily="34" charset="-122"/>
                <a:cs typeface="Calibri" pitchFamily="34" charset="-120"/>
              </a:rPr>
              <a:t>AZ B</a:t>
            </a:r>
            <a:endParaRPr lang="en-US" sz="1000" dirty="0"/>
          </a:p>
        </p:txBody>
      </p:sp>
      <p:sp>
        <p:nvSpPr>
          <p:cNvPr id="16" name="Shape 14"/>
          <p:cNvSpPr/>
          <p:nvPr/>
        </p:nvSpPr>
        <p:spPr>
          <a:xfrm>
            <a:off x="10241280" y="3017520"/>
            <a:ext cx="731520" cy="502920"/>
          </a:xfrm>
          <a:prstGeom prst="roundRect">
            <a:avLst>
              <a:gd name="adj" fmla="val 10909"/>
            </a:avLst>
          </a:prstGeom>
          <a:solidFill>
            <a:srgbClr val="065A82"/>
          </a:solidFill>
          <a:ln/>
        </p:spPr>
      </p:sp>
      <p:sp>
        <p:nvSpPr>
          <p:cNvPr id="17" name="Text 15"/>
          <p:cNvSpPr txBox="1"/>
          <p:nvPr/>
        </p:nvSpPr>
        <p:spPr>
          <a:xfrm>
            <a:off x="10241280" y="3017520"/>
            <a:ext cx="731520" cy="5029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running</a:t>
            </a:r>
            <a:endParaRPr lang="en-US" sz="850" dirty="0"/>
          </a:p>
        </p:txBody>
      </p:sp>
      <p:sp>
        <p:nvSpPr>
          <p:cNvPr id="18" name="Text 16"/>
          <p:cNvSpPr txBox="1"/>
          <p:nvPr/>
        </p:nvSpPr>
        <p:spPr>
          <a:xfrm>
            <a:off x="7498080" y="4617720"/>
            <a:ext cx="3968496" cy="32004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Desired: 1   Min: 1   Max: 2</a:t>
            </a:r>
            <a:endParaRPr lang="en-US" sz="1100" dirty="0"/>
          </a:p>
        </p:txBody>
      </p:sp>
      <p:sp>
        <p:nvSpPr>
          <p:cNvPr id="19" name="Shape 17"/>
          <p:cNvSpPr/>
          <p:nvPr/>
        </p:nvSpPr>
        <p:spPr>
          <a:xfrm>
            <a:off x="457200" y="6172200"/>
            <a:ext cx="3266237" cy="384048"/>
          </a:xfrm>
          <a:prstGeom prst="roundRect">
            <a:avLst>
              <a:gd name="adj" fmla="val 19048"/>
            </a:avLst>
          </a:prstGeom>
          <a:solidFill>
            <a:srgbClr val="065A82"/>
          </a:solidFill>
          <a:ln/>
        </p:spPr>
      </p:sp>
      <p:sp>
        <p:nvSpPr>
          <p:cNvPr id="20" name="Text 18"/>
          <p:cNvSpPr txBox="1"/>
          <p:nvPr/>
        </p:nvSpPr>
        <p:spPr>
          <a:xfrm>
            <a:off x="594360" y="6172200"/>
            <a:ext cx="2991917" cy="384048"/>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HANDS-ON  </a:t>
            </a:r>
            <a:pPr indent="0" marL="0">
              <a:buNone/>
            </a:pPr>
            <a:r>
              <a:rPr lang="en-US" sz="1100" dirty="0">
                <a:solidFill>
                  <a:srgbClr val="FFFFFF"/>
                </a:solidFill>
                <a:latin typeface="Calibri" pitchFamily="34" charset="0"/>
                <a:ea typeface="Calibri" pitchFamily="34" charset="-122"/>
                <a:cs typeface="Calibri" pitchFamily="34" charset="-120"/>
              </a:rPr>
              <a:t>Configure a basic Auto Scaling group</a:t>
            </a:r>
            <a:endParaRPr lang="en-US" sz="1100" dirty="0"/>
          </a:p>
        </p:txBody>
      </p:sp>
      <p:sp>
        <p:nvSpPr>
          <p:cNvPr id="21" name="Text 19"/>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One launch template feeding an Auto Scaling group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731520" y="1417320"/>
            <a:ext cx="10725912"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AWS Storage &amp; Identity Essentials</a:t>
            </a:r>
            <a:endParaRPr lang="en-US" sz="3400" dirty="0"/>
          </a:p>
        </p:txBody>
      </p:sp>
      <p:sp>
        <p:nvSpPr>
          <p:cNvPr id="3" name="Shape 1"/>
          <p:cNvSpPr/>
          <p:nvPr/>
        </p:nvSpPr>
        <p:spPr>
          <a:xfrm>
            <a:off x="2651760" y="2606040"/>
            <a:ext cx="6885432" cy="3474720"/>
          </a:xfrm>
          <a:prstGeom prst="roundRect">
            <a:avLst>
              <a:gd name="adj" fmla="val 3158"/>
            </a:avLst>
          </a:prstGeom>
          <a:solidFill>
            <a:srgbClr val="1A2150"/>
          </a:solidFill>
          <a:ln w="12700">
            <a:solidFill>
              <a:srgbClr val="1C7293"/>
            </a:solidFill>
            <a:prstDash val="solid"/>
          </a:ln>
        </p:spPr>
      </p:sp>
      <p:sp>
        <p:nvSpPr>
          <p:cNvPr id="4" name="Text 2"/>
          <p:cNvSpPr txBox="1"/>
          <p:nvPr/>
        </p:nvSpPr>
        <p:spPr>
          <a:xfrm>
            <a:off x="2971800" y="2788920"/>
            <a:ext cx="6245352" cy="320040"/>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WHAT'S AHEAD</a:t>
            </a:r>
            <a:endParaRPr lang="en-US" sz="1100" dirty="0"/>
          </a:p>
        </p:txBody>
      </p:sp>
      <p:sp>
        <p:nvSpPr>
          <p:cNvPr id="5" name="Text 3"/>
          <p:cNvSpPr txBox="1"/>
          <p:nvPr/>
        </p:nvSpPr>
        <p:spPr>
          <a:xfrm>
            <a:off x="2971800" y="3200400"/>
            <a:ext cx="6245352" cy="274320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S3 buckets, storage classes &amp; lifecycle policies</a:t>
            </a:r>
            <a:endParaRPr lang="en-US" sz="1450" dirty="0"/>
          </a:p>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IAM roles, users &amp; least-privilege design</a:t>
            </a:r>
            <a:endParaRPr lang="en-US" sz="1450" dirty="0"/>
          </a:p>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Instance profiles: attaching a role to EC2</a:t>
            </a:r>
            <a:endParaRPr lang="en-US" sz="1450" dirty="0"/>
          </a:p>
          <a:p>
            <a:pPr marL="203200" indent="-203200">
              <a:spcAft>
                <a:spcPts val="1000"/>
              </a:spcAft>
              <a:buSzPct val="100000"/>
              <a:buChar char="•"/>
            </a:pPr>
            <a:r>
              <a:rPr lang="en-US" sz="1450" dirty="0">
                <a:solidFill>
                  <a:srgbClr val="CADCFC"/>
                </a:solidFill>
                <a:latin typeface="Calibri" pitchFamily="34" charset="0"/>
                <a:ea typeface="Calibri" pitchFamily="34" charset="-122"/>
                <a:cs typeface="Calibri" pitchFamily="34" charset="-120"/>
              </a:rPr>
              <a:t>Completing the capstone's AWS foundation</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S3 Buckets &amp; Storage Classes</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S3 stores data as objects inside buckets — bucket names are globally unique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 bucket's Region can't be changed after creation</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Keep the defaults: Bucket owner enforced, Block Public Access on, SSE-S3 encryption</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Storage classes trade cost vs. retrieval speed</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7653528" y="1828800"/>
            <a:ext cx="3657600" cy="457200"/>
          </a:xfrm>
          <a:prstGeom prst="roundRect">
            <a:avLst>
              <a:gd name="adj" fmla="val 12000"/>
            </a:avLst>
          </a:prstGeom>
          <a:solidFill>
            <a:srgbClr val="065A82"/>
          </a:solidFill>
          <a:ln/>
        </p:spPr>
      </p:sp>
      <p:sp>
        <p:nvSpPr>
          <p:cNvPr id="6" name="Text 4"/>
          <p:cNvSpPr txBox="1"/>
          <p:nvPr/>
        </p:nvSpPr>
        <p:spPr>
          <a:xfrm>
            <a:off x="7653528" y="1828800"/>
            <a:ext cx="365760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S3 Standard</a:t>
            </a:r>
            <a:endParaRPr lang="en-US" sz="1050" dirty="0"/>
          </a:p>
        </p:txBody>
      </p:sp>
      <p:sp>
        <p:nvSpPr>
          <p:cNvPr id="7" name="Shape 5"/>
          <p:cNvSpPr/>
          <p:nvPr/>
        </p:nvSpPr>
        <p:spPr>
          <a:xfrm>
            <a:off x="7882128" y="2395728"/>
            <a:ext cx="3200400" cy="457200"/>
          </a:xfrm>
          <a:prstGeom prst="roundRect">
            <a:avLst>
              <a:gd name="adj" fmla="val 12000"/>
            </a:avLst>
          </a:prstGeom>
          <a:solidFill>
            <a:srgbClr val="2E7DA3"/>
          </a:solidFill>
          <a:ln/>
        </p:spPr>
      </p:sp>
      <p:sp>
        <p:nvSpPr>
          <p:cNvPr id="8" name="Text 6"/>
          <p:cNvSpPr txBox="1"/>
          <p:nvPr/>
        </p:nvSpPr>
        <p:spPr>
          <a:xfrm>
            <a:off x="7882128" y="2395728"/>
            <a:ext cx="320040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Intelligent-Tiering</a:t>
            </a:r>
            <a:endParaRPr lang="en-US" sz="1050" dirty="0"/>
          </a:p>
        </p:txBody>
      </p:sp>
      <p:sp>
        <p:nvSpPr>
          <p:cNvPr id="9" name="Shape 7"/>
          <p:cNvSpPr/>
          <p:nvPr/>
        </p:nvSpPr>
        <p:spPr>
          <a:xfrm>
            <a:off x="8110728" y="2962656"/>
            <a:ext cx="2743200" cy="457200"/>
          </a:xfrm>
          <a:prstGeom prst="roundRect">
            <a:avLst>
              <a:gd name="adj" fmla="val 12000"/>
            </a:avLst>
          </a:prstGeom>
          <a:solidFill>
            <a:srgbClr val="1C7293"/>
          </a:solidFill>
          <a:ln/>
        </p:spPr>
      </p:sp>
      <p:sp>
        <p:nvSpPr>
          <p:cNvPr id="10" name="Text 8"/>
          <p:cNvSpPr txBox="1"/>
          <p:nvPr/>
        </p:nvSpPr>
        <p:spPr>
          <a:xfrm>
            <a:off x="8110728" y="2962656"/>
            <a:ext cx="274320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Standard-IA</a:t>
            </a:r>
            <a:endParaRPr lang="en-US" sz="1050" dirty="0"/>
          </a:p>
        </p:txBody>
      </p:sp>
      <p:sp>
        <p:nvSpPr>
          <p:cNvPr id="11" name="Shape 9"/>
          <p:cNvSpPr/>
          <p:nvPr/>
        </p:nvSpPr>
        <p:spPr>
          <a:xfrm>
            <a:off x="8339328" y="3529584"/>
            <a:ext cx="2286000" cy="457200"/>
          </a:xfrm>
          <a:prstGeom prst="roundRect">
            <a:avLst>
              <a:gd name="adj" fmla="val 12000"/>
            </a:avLst>
          </a:prstGeom>
          <a:solidFill>
            <a:srgbClr val="4FA5B8"/>
          </a:solidFill>
          <a:ln/>
        </p:spPr>
      </p:sp>
      <p:sp>
        <p:nvSpPr>
          <p:cNvPr id="12" name="Text 10"/>
          <p:cNvSpPr txBox="1"/>
          <p:nvPr/>
        </p:nvSpPr>
        <p:spPr>
          <a:xfrm>
            <a:off x="8339328" y="3529584"/>
            <a:ext cx="228600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Glacier Instant/Flexible</a:t>
            </a:r>
            <a:endParaRPr lang="en-US" sz="1050" dirty="0"/>
          </a:p>
        </p:txBody>
      </p:sp>
      <p:sp>
        <p:nvSpPr>
          <p:cNvPr id="13" name="Shape 11"/>
          <p:cNvSpPr/>
          <p:nvPr/>
        </p:nvSpPr>
        <p:spPr>
          <a:xfrm>
            <a:off x="8567928" y="4096512"/>
            <a:ext cx="1828800" cy="457200"/>
          </a:xfrm>
          <a:prstGeom prst="roundRect">
            <a:avLst>
              <a:gd name="adj" fmla="val 12000"/>
            </a:avLst>
          </a:prstGeom>
          <a:solidFill>
            <a:srgbClr val="8FC1CE"/>
          </a:solidFill>
          <a:ln/>
        </p:spPr>
      </p:sp>
      <p:sp>
        <p:nvSpPr>
          <p:cNvPr id="14" name="Text 12"/>
          <p:cNvSpPr txBox="1"/>
          <p:nvPr/>
        </p:nvSpPr>
        <p:spPr>
          <a:xfrm>
            <a:off x="8567928" y="4096512"/>
            <a:ext cx="182880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Glacier Deep Archive</a:t>
            </a:r>
            <a:endParaRPr lang="en-US" sz="1050" dirty="0"/>
          </a:p>
        </p:txBody>
      </p:sp>
      <p:sp>
        <p:nvSpPr>
          <p:cNvPr id="15" name="Text 13"/>
          <p:cNvSpPr txBox="1"/>
          <p:nvPr/>
        </p:nvSpPr>
        <p:spPr>
          <a:xfrm>
            <a:off x="7498080" y="4709160"/>
            <a:ext cx="396849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frequent access → archival</a:t>
            </a:r>
            <a:endParaRPr lang="en-US" sz="1000" dirty="0"/>
          </a:p>
        </p:txBody>
      </p:sp>
      <p:sp>
        <p:nvSpPr>
          <p:cNvPr id="16" name="Text 14"/>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Storage classes, fastest/costliest to cheapest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S3 Lifecycle Policies</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 lifecycle rule automates moving or deleting objects over time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Scope: all objects in the bucket, or a specific prefix/tag</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Transition action: move to a cheaper storage class after N days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Expire action: delete the object after N days</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7726680" y="2926080"/>
            <a:ext cx="3108960" cy="0"/>
          </a:xfrm>
          <a:prstGeom prst="line">
            <a:avLst/>
          </a:prstGeom>
          <a:noFill/>
          <a:ln w="25400">
            <a:solidFill>
              <a:srgbClr val="065A82"/>
            </a:solidFill>
            <a:prstDash val="solid"/>
            <a:tailEnd type="triangle"/>
          </a:ln>
        </p:spPr>
      </p:sp>
      <p:sp>
        <p:nvSpPr>
          <p:cNvPr id="6" name="Shape 4"/>
          <p:cNvSpPr/>
          <p:nvPr/>
        </p:nvSpPr>
        <p:spPr>
          <a:xfrm>
            <a:off x="7589520" y="2788920"/>
            <a:ext cx="274320" cy="274320"/>
          </a:xfrm>
          <a:prstGeom prst="ellipse">
            <a:avLst/>
          </a:prstGeom>
          <a:solidFill>
            <a:srgbClr val="1C7293"/>
          </a:solidFill>
          <a:ln/>
        </p:spPr>
      </p:sp>
      <p:sp>
        <p:nvSpPr>
          <p:cNvPr id="7" name="Text 5"/>
          <p:cNvSpPr txBox="1"/>
          <p:nvPr/>
        </p:nvSpPr>
        <p:spPr>
          <a:xfrm>
            <a:off x="7178040" y="2331720"/>
            <a:ext cx="1097280" cy="32004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Day 0</a:t>
            </a:r>
            <a:endParaRPr lang="en-US" sz="1100" dirty="0"/>
          </a:p>
        </p:txBody>
      </p:sp>
      <p:sp>
        <p:nvSpPr>
          <p:cNvPr id="8" name="Text 6"/>
          <p:cNvSpPr txBox="1"/>
          <p:nvPr/>
        </p:nvSpPr>
        <p:spPr>
          <a:xfrm>
            <a:off x="7086600" y="3200400"/>
            <a:ext cx="1280160" cy="64008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Object created</a:t>
            </a:r>
            <a:endParaRPr lang="en-US" sz="900" dirty="0"/>
          </a:p>
          <a:p>
            <a:pPr algn="ctr" indent="0" marL="0">
              <a:buNone/>
            </a:pPr>
            <a:r>
              <a:rPr lang="en-US" sz="900" dirty="0">
                <a:solidFill>
                  <a:srgbClr val="5B6472"/>
                </a:solidFill>
                <a:latin typeface="Calibri" pitchFamily="34" charset="0"/>
                <a:ea typeface="Calibri" pitchFamily="34" charset="-122"/>
                <a:cs typeface="Calibri" pitchFamily="34" charset="-120"/>
              </a:rPr>
              <a:t>(S3 Standard)</a:t>
            </a:r>
            <a:endParaRPr lang="en-US" sz="900" dirty="0"/>
          </a:p>
        </p:txBody>
      </p:sp>
      <p:sp>
        <p:nvSpPr>
          <p:cNvPr id="9" name="Shape 7"/>
          <p:cNvSpPr/>
          <p:nvPr/>
        </p:nvSpPr>
        <p:spPr>
          <a:xfrm>
            <a:off x="9052560" y="2788920"/>
            <a:ext cx="274320" cy="274320"/>
          </a:xfrm>
          <a:prstGeom prst="ellipse">
            <a:avLst/>
          </a:prstGeom>
          <a:solidFill>
            <a:srgbClr val="1C7293"/>
          </a:solidFill>
          <a:ln/>
        </p:spPr>
      </p:sp>
      <p:sp>
        <p:nvSpPr>
          <p:cNvPr id="10" name="Text 8"/>
          <p:cNvSpPr txBox="1"/>
          <p:nvPr/>
        </p:nvSpPr>
        <p:spPr>
          <a:xfrm>
            <a:off x="8641080" y="2331720"/>
            <a:ext cx="1097280" cy="32004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Day 30</a:t>
            </a:r>
            <a:endParaRPr lang="en-US" sz="1100" dirty="0"/>
          </a:p>
        </p:txBody>
      </p:sp>
      <p:sp>
        <p:nvSpPr>
          <p:cNvPr id="11" name="Text 9"/>
          <p:cNvSpPr txBox="1"/>
          <p:nvPr/>
        </p:nvSpPr>
        <p:spPr>
          <a:xfrm>
            <a:off x="8549640" y="3200400"/>
            <a:ext cx="1280160" cy="64008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Transition to</a:t>
            </a:r>
            <a:endParaRPr lang="en-US" sz="900" dirty="0"/>
          </a:p>
          <a:p>
            <a:pPr algn="ctr" indent="0" marL="0">
              <a:buNone/>
            </a:pPr>
            <a:r>
              <a:rPr lang="en-US" sz="900" dirty="0">
                <a:solidFill>
                  <a:srgbClr val="5B6472"/>
                </a:solidFill>
                <a:latin typeface="Calibri" pitchFamily="34" charset="0"/>
                <a:ea typeface="Calibri" pitchFamily="34" charset="-122"/>
                <a:cs typeface="Calibri" pitchFamily="34" charset="-120"/>
              </a:rPr>
              <a:t>Standard-IA</a:t>
            </a:r>
            <a:endParaRPr lang="en-US" sz="900" dirty="0"/>
          </a:p>
        </p:txBody>
      </p:sp>
      <p:sp>
        <p:nvSpPr>
          <p:cNvPr id="12" name="Shape 10"/>
          <p:cNvSpPr/>
          <p:nvPr/>
        </p:nvSpPr>
        <p:spPr>
          <a:xfrm>
            <a:off x="10515600" y="2788920"/>
            <a:ext cx="274320" cy="274320"/>
          </a:xfrm>
          <a:prstGeom prst="ellipse">
            <a:avLst/>
          </a:prstGeom>
          <a:solidFill>
            <a:srgbClr val="1C7293"/>
          </a:solidFill>
          <a:ln/>
        </p:spPr>
      </p:sp>
      <p:sp>
        <p:nvSpPr>
          <p:cNvPr id="13" name="Text 11"/>
          <p:cNvSpPr txBox="1"/>
          <p:nvPr/>
        </p:nvSpPr>
        <p:spPr>
          <a:xfrm>
            <a:off x="10104120" y="2331720"/>
            <a:ext cx="1097280" cy="32004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Day 180</a:t>
            </a:r>
            <a:endParaRPr lang="en-US" sz="1100" dirty="0"/>
          </a:p>
        </p:txBody>
      </p:sp>
      <p:sp>
        <p:nvSpPr>
          <p:cNvPr id="14" name="Text 12"/>
          <p:cNvSpPr txBox="1"/>
          <p:nvPr/>
        </p:nvSpPr>
        <p:spPr>
          <a:xfrm>
            <a:off x="10012680" y="3200400"/>
            <a:ext cx="1280160" cy="64008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Expire</a:t>
            </a:r>
            <a:endParaRPr lang="en-US" sz="900" dirty="0"/>
          </a:p>
          <a:p>
            <a:pPr algn="ctr" indent="0" marL="0">
              <a:buNone/>
            </a:pPr>
            <a:r>
              <a:rPr lang="en-US" sz="900" dirty="0">
                <a:solidFill>
                  <a:srgbClr val="5B6472"/>
                </a:solidFill>
                <a:latin typeface="Calibri" pitchFamily="34" charset="0"/>
                <a:ea typeface="Calibri" pitchFamily="34" charset="-122"/>
                <a:cs typeface="Calibri" pitchFamily="34" charset="-120"/>
              </a:rPr>
              <a:t>(deleted)</a:t>
            </a:r>
            <a:endParaRPr lang="en-US" sz="900" dirty="0"/>
          </a:p>
        </p:txBody>
      </p:sp>
      <p:sp>
        <p:nvSpPr>
          <p:cNvPr id="15" name="Shape 13"/>
          <p:cNvSpPr/>
          <p:nvPr/>
        </p:nvSpPr>
        <p:spPr>
          <a:xfrm>
            <a:off x="457200" y="6172200"/>
            <a:ext cx="3416198" cy="384048"/>
          </a:xfrm>
          <a:prstGeom prst="roundRect">
            <a:avLst>
              <a:gd name="adj" fmla="val 19048"/>
            </a:avLst>
          </a:prstGeom>
          <a:solidFill>
            <a:srgbClr val="065A82"/>
          </a:solidFill>
          <a:ln/>
        </p:spPr>
      </p:sp>
      <p:sp>
        <p:nvSpPr>
          <p:cNvPr id="16" name="Text 14"/>
          <p:cNvSpPr txBox="1"/>
          <p:nvPr/>
        </p:nvSpPr>
        <p:spPr>
          <a:xfrm>
            <a:off x="594360" y="6172200"/>
            <a:ext cx="3141878" cy="384048"/>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HANDS-ON  </a:t>
            </a:r>
            <a:pPr indent="0" marL="0">
              <a:buNone/>
            </a:pPr>
            <a:r>
              <a:rPr lang="en-US" sz="1100" dirty="0">
                <a:solidFill>
                  <a:srgbClr val="FFFFFF"/>
                </a:solidFill>
                <a:latin typeface="Calibri" pitchFamily="34" charset="0"/>
                <a:ea typeface="Calibri" pitchFamily="34" charset="-122"/>
                <a:cs typeface="Calibri" pitchFamily="34" charset="-120"/>
              </a:rPr>
              <a:t>Create an S3 bucket + lifecycle policy</a:t>
            </a:r>
            <a:endParaRPr lang="en-US" sz="1100" dirty="0"/>
          </a:p>
        </p:txBody>
      </p:sp>
      <p:sp>
        <p:nvSpPr>
          <p:cNvPr id="17" name="Text 15"/>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Object lifecycle: create, transition, expire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IAM Roles, Users &amp; Least Privilege</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Policy = a JSON document stating what's allowed on what resources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Role = a temporary identity a person or service can assume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User = has its own long-term credentials; AWS now recommends roles instead</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Least privilege: start with a managed policy, then narrow to just what's needed</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Text 3"/>
          <p:cNvSpPr txBox="1"/>
          <p:nvPr/>
        </p:nvSpPr>
        <p:spPr>
          <a:xfrm>
            <a:off x="7680960" y="1828800"/>
            <a:ext cx="1554480" cy="274320"/>
          </a:xfrm>
          <a:prstGeom prst="rect">
            <a:avLst/>
          </a:prstGeom>
          <a:noFill/>
          <a:ln/>
        </p:spPr>
        <p:txBody>
          <a:bodyPr wrap="square" lIns="0" tIns="0" rIns="0" bIns="0"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BEFORE</a:t>
            </a:r>
            <a:endParaRPr lang="en-US" sz="1100" dirty="0"/>
          </a:p>
        </p:txBody>
      </p:sp>
      <p:sp>
        <p:nvSpPr>
          <p:cNvPr id="6" name="Shape 4"/>
          <p:cNvSpPr/>
          <p:nvPr/>
        </p:nvSpPr>
        <p:spPr>
          <a:xfrm>
            <a:off x="7680960" y="2148840"/>
            <a:ext cx="1554480" cy="1188720"/>
          </a:xfrm>
          <a:prstGeom prst="roundRect">
            <a:avLst>
              <a:gd name="adj" fmla="val 7692"/>
            </a:avLst>
          </a:prstGeom>
          <a:solidFill>
            <a:srgbClr val="FFFFFF"/>
          </a:solidFill>
          <a:ln w="25400">
            <a:solidFill>
              <a:srgbClr val="C62828"/>
            </a:solidFill>
            <a:prstDash val="solid"/>
          </a:ln>
        </p:spPr>
      </p:sp>
      <p:sp>
        <p:nvSpPr>
          <p:cNvPr id="7" name="Text 5"/>
          <p:cNvSpPr txBox="1"/>
          <p:nvPr/>
        </p:nvSpPr>
        <p:spPr>
          <a:xfrm>
            <a:off x="7680960" y="2148840"/>
            <a:ext cx="1554480" cy="1188720"/>
          </a:xfrm>
          <a:prstGeom prst="rect">
            <a:avLst/>
          </a:prstGeom>
          <a:noFill/>
          <a:ln/>
        </p:spPr>
        <p:txBody>
          <a:bodyPr wrap="square" lIns="0" tIns="0" rIns="0" bIns="0" rtlCol="0" anchor="ctr"/>
          <a:lstStyle/>
          <a:p>
            <a:pPr algn="ctr" indent="0" marL="0">
              <a:buNone/>
            </a:pPr>
            <a:r>
              <a:rPr lang="en-US" sz="1000" dirty="0">
                <a:solidFill>
                  <a:srgbClr val="C62828"/>
                </a:solidFill>
                <a:latin typeface="Calibri" pitchFamily="34" charset="0"/>
                <a:ea typeface="Calibri" pitchFamily="34" charset="-122"/>
                <a:cs typeface="Calibri" pitchFamily="34" charset="-120"/>
              </a:rPr>
              <a:t>AWS managed</a:t>
            </a:r>
            <a:endParaRPr lang="en-US" sz="1000" dirty="0"/>
          </a:p>
          <a:p>
            <a:pPr algn="ctr" indent="0" marL="0">
              <a:buNone/>
            </a:pPr>
            <a:r>
              <a:rPr lang="en-US" sz="1000" dirty="0">
                <a:solidFill>
                  <a:srgbClr val="C62828"/>
                </a:solidFill>
                <a:latin typeface="Calibri" pitchFamily="34" charset="0"/>
                <a:ea typeface="Calibri" pitchFamily="34" charset="-122"/>
                <a:cs typeface="Calibri" pitchFamily="34" charset="-120"/>
              </a:rPr>
              <a:t>policy</a:t>
            </a:r>
            <a:endParaRPr lang="en-US" sz="1000" dirty="0"/>
          </a:p>
          <a:p>
            <a:pPr algn="ctr" indent="0" marL="0">
              <a:buNone/>
            </a:pPr>
            <a:r>
              <a:rPr lang="en-US" sz="1000" dirty="0">
                <a:solidFill>
                  <a:srgbClr val="C62828"/>
                </a:solidFill>
                <a:latin typeface="Calibri" pitchFamily="34" charset="0"/>
                <a:ea typeface="Calibri" pitchFamily="34" charset="-122"/>
                <a:cs typeface="Calibri" pitchFamily="34" charset="-120"/>
              </a:rPr>
              <a:t>(broad access)</a:t>
            </a:r>
            <a:endParaRPr lang="en-US" sz="1000" dirty="0"/>
          </a:p>
        </p:txBody>
      </p:sp>
      <p:sp>
        <p:nvSpPr>
          <p:cNvPr id="8" name="Shape 6"/>
          <p:cNvSpPr/>
          <p:nvPr/>
        </p:nvSpPr>
        <p:spPr>
          <a:xfrm>
            <a:off x="9326880" y="2743200"/>
            <a:ext cx="457200" cy="0"/>
          </a:xfrm>
          <a:prstGeom prst="line">
            <a:avLst/>
          </a:prstGeom>
          <a:noFill/>
          <a:ln w="25400">
            <a:solidFill>
              <a:srgbClr val="21295C"/>
            </a:solidFill>
            <a:prstDash val="solid"/>
            <a:tailEnd type="triangle"/>
          </a:ln>
        </p:spPr>
      </p:sp>
      <p:sp>
        <p:nvSpPr>
          <p:cNvPr id="9" name="Text 7"/>
          <p:cNvSpPr txBox="1"/>
          <p:nvPr/>
        </p:nvSpPr>
        <p:spPr>
          <a:xfrm>
            <a:off x="9875520" y="1828800"/>
            <a:ext cx="1554480" cy="274320"/>
          </a:xfrm>
          <a:prstGeom prst="rect">
            <a:avLst/>
          </a:prstGeom>
          <a:noFill/>
          <a:ln/>
        </p:spPr>
        <p:txBody>
          <a:bodyPr wrap="square" lIns="0" tIns="0" rIns="0" bIns="0"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AFTER</a:t>
            </a:r>
            <a:endParaRPr lang="en-US" sz="1100" dirty="0"/>
          </a:p>
        </p:txBody>
      </p:sp>
      <p:sp>
        <p:nvSpPr>
          <p:cNvPr id="10" name="Shape 8"/>
          <p:cNvSpPr/>
          <p:nvPr/>
        </p:nvSpPr>
        <p:spPr>
          <a:xfrm>
            <a:off x="9875520" y="2148840"/>
            <a:ext cx="1554480" cy="1188720"/>
          </a:xfrm>
          <a:prstGeom prst="roundRect">
            <a:avLst>
              <a:gd name="adj" fmla="val 7692"/>
            </a:avLst>
          </a:prstGeom>
          <a:solidFill>
            <a:srgbClr val="FFFFFF"/>
          </a:solidFill>
          <a:ln w="25400">
            <a:solidFill>
              <a:srgbClr val="2E7D32"/>
            </a:solidFill>
            <a:prstDash val="solid"/>
          </a:ln>
        </p:spPr>
      </p:sp>
      <p:sp>
        <p:nvSpPr>
          <p:cNvPr id="11" name="Text 9"/>
          <p:cNvSpPr txBox="1"/>
          <p:nvPr/>
        </p:nvSpPr>
        <p:spPr>
          <a:xfrm>
            <a:off x="9875520" y="2148840"/>
            <a:ext cx="1554480" cy="1188720"/>
          </a:xfrm>
          <a:prstGeom prst="rect">
            <a:avLst/>
          </a:prstGeom>
          <a:noFill/>
          <a:ln/>
        </p:spPr>
        <p:txBody>
          <a:bodyPr wrap="square" lIns="0" tIns="0" rIns="0" bIns="0" rtlCol="0" anchor="ctr"/>
          <a:lstStyle/>
          <a:p>
            <a:pPr algn="ctr" indent="0" marL="0">
              <a:buNone/>
            </a:pPr>
            <a:r>
              <a:rPr lang="en-US" sz="1000" dirty="0">
                <a:solidFill>
                  <a:srgbClr val="2E7D32"/>
                </a:solidFill>
                <a:latin typeface="Calibri" pitchFamily="34" charset="0"/>
                <a:ea typeface="Calibri" pitchFamily="34" charset="-122"/>
                <a:cs typeface="Calibri" pitchFamily="34" charset="-120"/>
              </a:rPr>
              <a:t>Customer policy</a:t>
            </a:r>
            <a:endParaRPr lang="en-US" sz="1000" dirty="0"/>
          </a:p>
          <a:p>
            <a:pPr algn="ctr" indent="0" marL="0">
              <a:buNone/>
            </a:pPr>
            <a:r>
              <a:rPr lang="en-US" sz="1000" dirty="0">
                <a:solidFill>
                  <a:srgbClr val="2E7D32"/>
                </a:solidFill>
                <a:latin typeface="Calibri" pitchFamily="34" charset="0"/>
                <a:ea typeface="Calibri" pitchFamily="34" charset="-122"/>
                <a:cs typeface="Calibri" pitchFamily="34" charset="-120"/>
              </a:rPr>
              <a:t>(this bucket</a:t>
            </a:r>
            <a:endParaRPr lang="en-US" sz="1000" dirty="0"/>
          </a:p>
          <a:p>
            <a:pPr algn="ctr" indent="0" marL="0">
              <a:buNone/>
            </a:pPr>
            <a:r>
              <a:rPr lang="en-US" sz="1000" dirty="0">
                <a:solidFill>
                  <a:srgbClr val="2E7D32"/>
                </a:solidFill>
                <a:latin typeface="Calibri" pitchFamily="34" charset="0"/>
                <a:ea typeface="Calibri" pitchFamily="34" charset="-122"/>
                <a:cs typeface="Calibri" pitchFamily="34" charset="-120"/>
              </a:rPr>
              <a:t>only)</a:t>
            </a:r>
            <a:endParaRPr lang="en-US" sz="1000" dirty="0"/>
          </a:p>
        </p:txBody>
      </p:sp>
      <p:sp>
        <p:nvSpPr>
          <p:cNvPr id="12" name="Text 10"/>
          <p:cNvSpPr txBox="1"/>
          <p:nvPr/>
        </p:nvSpPr>
        <p:spPr>
          <a:xfrm>
            <a:off x="7498080" y="3657600"/>
            <a:ext cx="3968496" cy="822960"/>
          </a:xfrm>
          <a:prstGeom prst="rect">
            <a:avLst/>
          </a:prstGeom>
          <a:noFill/>
          <a:ln/>
        </p:spPr>
        <p:txBody>
          <a:bodyPr wrap="square" lIns="0" tIns="0" rIns="0" bIns="0" rtlCol="0" anchor="ctr"/>
          <a:lstStyle/>
          <a:p>
            <a:pPr algn="ctr" indent="0" marL="0">
              <a:buNone/>
            </a:pPr>
            <a:r>
              <a:rPr lang="en-US" sz="1050" i="1" dirty="0">
                <a:solidFill>
                  <a:srgbClr val="21295C"/>
                </a:solidFill>
                <a:latin typeface="Calibri" pitchFamily="34" charset="0"/>
                <a:ea typeface="Calibri" pitchFamily="34" charset="-122"/>
                <a:cs typeface="Calibri" pitchFamily="34" charset="-120"/>
              </a:rPr>
              <a:t>Start broad to move fast, then narrow to least privilege before the capstone depends on it.</a:t>
            </a:r>
            <a:endParaRPr lang="en-US" sz="1050" dirty="0"/>
          </a:p>
        </p:txBody>
      </p:sp>
      <p:sp>
        <p:nvSpPr>
          <p:cNvPr id="13" name="Shape 11"/>
          <p:cNvSpPr/>
          <p:nvPr/>
        </p:nvSpPr>
        <p:spPr>
          <a:xfrm>
            <a:off x="457200" y="6172200"/>
            <a:ext cx="3041294" cy="384048"/>
          </a:xfrm>
          <a:prstGeom prst="roundRect">
            <a:avLst>
              <a:gd name="adj" fmla="val 19048"/>
            </a:avLst>
          </a:prstGeom>
          <a:solidFill>
            <a:srgbClr val="065A82"/>
          </a:solidFill>
          <a:ln/>
        </p:spPr>
      </p:sp>
      <p:sp>
        <p:nvSpPr>
          <p:cNvPr id="14" name="Text 12"/>
          <p:cNvSpPr txBox="1"/>
          <p:nvPr/>
        </p:nvSpPr>
        <p:spPr>
          <a:xfrm>
            <a:off x="594360" y="6172200"/>
            <a:ext cx="2766974" cy="384048"/>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HANDS-ON  </a:t>
            </a:r>
            <a:pPr indent="0" marL="0">
              <a:buNone/>
            </a:pPr>
            <a:r>
              <a:rPr lang="en-US" sz="1100" dirty="0">
                <a:solidFill>
                  <a:srgbClr val="FFFFFF"/>
                </a:solidFill>
                <a:latin typeface="Calibri" pitchFamily="34" charset="0"/>
                <a:ea typeface="Calibri" pitchFamily="34" charset="-122"/>
                <a:cs typeface="Calibri" pitchFamily="34" charset="-120"/>
              </a:rPr>
              <a:t>Create a least-privilege IAM role</a:t>
            </a:r>
            <a:endParaRPr lang="en-US" sz="1100" dirty="0"/>
          </a:p>
        </p:txBody>
      </p:sp>
      <p:sp>
        <p:nvSpPr>
          <p:cNvPr id="15" name="Text 13"/>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From a broad managed policy to least privilege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11274552" cy="77724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Instance Profiles: Attaching a Role to EC2</a:t>
            </a:r>
            <a:endParaRPr lang="en-US" sz="3000" dirty="0"/>
          </a:p>
        </p:txBody>
      </p:sp>
      <p:sp>
        <p:nvSpPr>
          <p:cNvPr id="3" name="Text 1"/>
          <p:cNvSpPr txBox="1"/>
          <p:nvPr/>
        </p:nvSpPr>
        <p:spPr>
          <a:xfrm>
            <a:off x="457200" y="141732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Instance profile = the container IAM builds around a role for EC2</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Only one role per instance at a time (reusable across many instances)</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Console path: Actions → Security → Modify IAM role</a:t>
            </a:r>
            <a:endParaRPr lang="en-US" sz="1600" dirty="0"/>
          </a:p>
          <a:p>
            <a:pPr marL="228600" indent="-228600">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Together: compute + storage + identity = the capstone's AWS foundation</a:t>
            </a:r>
            <a:endParaRPr lang="en-US" sz="1600" dirty="0"/>
          </a:p>
        </p:txBody>
      </p:sp>
      <p:sp>
        <p:nvSpPr>
          <p:cNvPr id="4" name="Shape 2"/>
          <p:cNvSpPr/>
          <p:nvPr/>
        </p:nvSpPr>
        <p:spPr>
          <a:xfrm>
            <a:off x="7223760" y="1417320"/>
            <a:ext cx="4517136" cy="4892040"/>
          </a:xfrm>
          <a:prstGeom prst="roundRect">
            <a:avLst>
              <a:gd name="adj" fmla="val 2429"/>
            </a:avLst>
          </a:prstGeom>
          <a:solidFill>
            <a:srgbClr val="EAF3F7"/>
          </a:solidFill>
          <a:ln/>
        </p:spPr>
      </p:sp>
      <p:sp>
        <p:nvSpPr>
          <p:cNvPr id="5" name="Shape 3"/>
          <p:cNvSpPr/>
          <p:nvPr/>
        </p:nvSpPr>
        <p:spPr>
          <a:xfrm>
            <a:off x="8778240" y="1737360"/>
            <a:ext cx="1371600" cy="822960"/>
          </a:xfrm>
          <a:prstGeom prst="roundRect">
            <a:avLst>
              <a:gd name="adj" fmla="val 8889"/>
            </a:avLst>
          </a:prstGeom>
          <a:solidFill>
            <a:srgbClr val="065A82"/>
          </a:solidFill>
          <a:ln/>
        </p:spPr>
      </p:sp>
      <p:sp>
        <p:nvSpPr>
          <p:cNvPr id="6" name="Text 4"/>
          <p:cNvSpPr txBox="1"/>
          <p:nvPr/>
        </p:nvSpPr>
        <p:spPr>
          <a:xfrm>
            <a:off x="8778240" y="1737360"/>
            <a:ext cx="137160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EC2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Instance</a:t>
            </a:r>
            <a:endParaRPr lang="en-US" sz="1100" dirty="0"/>
          </a:p>
        </p:txBody>
      </p:sp>
      <p:sp>
        <p:nvSpPr>
          <p:cNvPr id="7" name="Shape 5"/>
          <p:cNvSpPr/>
          <p:nvPr/>
        </p:nvSpPr>
        <p:spPr>
          <a:xfrm>
            <a:off x="9464040" y="2560320"/>
            <a:ext cx="0" cy="411480"/>
          </a:xfrm>
          <a:prstGeom prst="line">
            <a:avLst/>
          </a:prstGeom>
          <a:noFill/>
          <a:ln w="25400">
            <a:solidFill>
              <a:srgbClr val="21295C"/>
            </a:solidFill>
            <a:prstDash val="solid"/>
            <a:tailEnd type="triangle"/>
          </a:ln>
        </p:spPr>
      </p:sp>
      <p:sp>
        <p:nvSpPr>
          <p:cNvPr id="8" name="Shape 6"/>
          <p:cNvSpPr/>
          <p:nvPr/>
        </p:nvSpPr>
        <p:spPr>
          <a:xfrm>
            <a:off x="8778240" y="2971800"/>
            <a:ext cx="1371600" cy="822960"/>
          </a:xfrm>
          <a:prstGeom prst="roundRect">
            <a:avLst>
              <a:gd name="adj" fmla="val 8889"/>
            </a:avLst>
          </a:prstGeom>
          <a:solidFill>
            <a:srgbClr val="1C7293"/>
          </a:solidFill>
          <a:ln/>
        </p:spPr>
      </p:sp>
      <p:sp>
        <p:nvSpPr>
          <p:cNvPr id="9" name="Text 7"/>
          <p:cNvSpPr txBox="1"/>
          <p:nvPr/>
        </p:nvSpPr>
        <p:spPr>
          <a:xfrm>
            <a:off x="8778240" y="2971800"/>
            <a:ext cx="1371600" cy="8229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IAM Role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(instance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profile)</a:t>
            </a:r>
            <a:endParaRPr lang="en-US" sz="950" dirty="0"/>
          </a:p>
        </p:txBody>
      </p:sp>
      <p:sp>
        <p:nvSpPr>
          <p:cNvPr id="10" name="Shape 8"/>
          <p:cNvSpPr/>
          <p:nvPr/>
        </p:nvSpPr>
        <p:spPr>
          <a:xfrm>
            <a:off x="9464040" y="3794760"/>
            <a:ext cx="0" cy="411480"/>
          </a:xfrm>
          <a:prstGeom prst="line">
            <a:avLst/>
          </a:prstGeom>
          <a:noFill/>
          <a:ln w="25400">
            <a:solidFill>
              <a:srgbClr val="21295C"/>
            </a:solidFill>
            <a:prstDash val="solid"/>
            <a:tailEnd type="triangle"/>
          </a:ln>
        </p:spPr>
      </p:sp>
      <p:sp>
        <p:nvSpPr>
          <p:cNvPr id="11" name="Shape 9"/>
          <p:cNvSpPr/>
          <p:nvPr/>
        </p:nvSpPr>
        <p:spPr>
          <a:xfrm>
            <a:off x="8778240" y="4206240"/>
            <a:ext cx="1371600" cy="822960"/>
          </a:xfrm>
          <a:prstGeom prst="roundRect">
            <a:avLst>
              <a:gd name="adj" fmla="val 8889"/>
            </a:avLst>
          </a:prstGeom>
          <a:solidFill>
            <a:srgbClr val="065A82"/>
          </a:solidFill>
          <a:ln/>
        </p:spPr>
      </p:sp>
      <p:sp>
        <p:nvSpPr>
          <p:cNvPr id="12" name="Text 10"/>
          <p:cNvSpPr txBox="1"/>
          <p:nvPr/>
        </p:nvSpPr>
        <p:spPr>
          <a:xfrm>
            <a:off x="8778240" y="4206240"/>
            <a:ext cx="137160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S3 Bucket</a:t>
            </a:r>
            <a:endParaRPr lang="en-US" sz="1100" dirty="0"/>
          </a:p>
        </p:txBody>
      </p:sp>
      <p:sp>
        <p:nvSpPr>
          <p:cNvPr id="13" name="Text 11"/>
          <p:cNvSpPr txBox="1"/>
          <p:nvPr/>
        </p:nvSpPr>
        <p:spPr>
          <a:xfrm>
            <a:off x="7498080" y="5212080"/>
            <a:ext cx="3968496" cy="36576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The capstone's AWS foundation</a:t>
            </a:r>
            <a:endParaRPr lang="en-US" sz="1100" dirty="0"/>
          </a:p>
        </p:txBody>
      </p:sp>
      <p:sp>
        <p:nvSpPr>
          <p:cNvPr id="14" name="Shape 12"/>
          <p:cNvSpPr/>
          <p:nvPr/>
        </p:nvSpPr>
        <p:spPr>
          <a:xfrm>
            <a:off x="457200" y="6172200"/>
            <a:ext cx="3941064" cy="384048"/>
          </a:xfrm>
          <a:prstGeom prst="roundRect">
            <a:avLst>
              <a:gd name="adj" fmla="val 19048"/>
            </a:avLst>
          </a:prstGeom>
          <a:solidFill>
            <a:srgbClr val="065A82"/>
          </a:solidFill>
          <a:ln/>
        </p:spPr>
      </p:sp>
      <p:sp>
        <p:nvSpPr>
          <p:cNvPr id="15" name="Text 13"/>
          <p:cNvSpPr txBox="1"/>
          <p:nvPr/>
        </p:nvSpPr>
        <p:spPr>
          <a:xfrm>
            <a:off x="594360" y="6172200"/>
            <a:ext cx="3666744" cy="384048"/>
          </a:xfrm>
          <a:prstGeom prst="rect">
            <a:avLst/>
          </a:prstGeom>
          <a:noFill/>
          <a:ln/>
        </p:spPr>
        <p:txBody>
          <a:bodyPr wrap="square" lIns="0" tIns="0" rIns="0" bIns="0"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HANDS-ON  </a:t>
            </a:r>
            <a:pPr indent="0" marL="0">
              <a:buNone/>
            </a:pPr>
            <a:r>
              <a:rPr lang="en-US" sz="1100" dirty="0">
                <a:solidFill>
                  <a:srgbClr val="FFFFFF"/>
                </a:solidFill>
                <a:latin typeface="Calibri" pitchFamily="34" charset="0"/>
                <a:ea typeface="Calibri" pitchFamily="34" charset="-122"/>
                <a:cs typeface="Calibri" pitchFamily="34" charset="-120"/>
              </a:rPr>
              <a:t>Attach the role; provision the AWS foundation</a:t>
            </a:r>
            <a:endParaRPr lang="en-US" sz="1100" dirty="0"/>
          </a:p>
        </p:txBody>
      </p:sp>
      <p:sp>
        <p:nvSpPr>
          <p:cNvPr id="16" name="Text 14"/>
          <p:cNvSpPr txBox="1"/>
          <p:nvPr/>
        </p:nvSpPr>
        <p:spPr>
          <a:xfrm>
            <a:off x="7406640" y="5989320"/>
            <a:ext cx="4151376" cy="27432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EC2, IAM role, and S3 tied together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2026-09-01T16:06:13Z</dcterms:created>
  <dcterms:modified xsi:type="dcterms:W3CDTF">2026-09-01T16:06:13Z</dcterms:modified>
</cp:coreProperties>
</file>